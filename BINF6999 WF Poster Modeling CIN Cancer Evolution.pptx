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9E7"/>
    <a:srgbClr val="FBFFFF"/>
    <a:srgbClr val="DEF7F8"/>
    <a:srgbClr val="5B9BD5"/>
    <a:srgbClr val="F5E1F7"/>
    <a:srgbClr val="CE6ED8"/>
    <a:srgbClr val="FCE9DC"/>
    <a:srgbClr val="F7C39F"/>
    <a:srgbClr val="F76F65"/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>
        <p:scale>
          <a:sx n="25" d="100"/>
          <a:sy n="25" d="100"/>
        </p:scale>
        <p:origin x="654" y="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E0F51-4A1B-4B2E-BDE5-492C8D63584C}" type="datetimeFigureOut">
              <a:rPr lang="en-CA" smtClean="0"/>
              <a:t>2026-08-05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5548-CCD8-43AB-A2F7-60836FEDB6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5717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E0F51-4A1B-4B2E-BDE5-492C8D63584C}" type="datetimeFigureOut">
              <a:rPr lang="en-CA" smtClean="0"/>
              <a:t>2026-08-05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5548-CCD8-43AB-A2F7-60836FEDB6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9713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E0F51-4A1B-4B2E-BDE5-492C8D63584C}" type="datetimeFigureOut">
              <a:rPr lang="en-CA" smtClean="0"/>
              <a:t>2026-08-05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5548-CCD8-43AB-A2F7-60836FEDB6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5362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E0F51-4A1B-4B2E-BDE5-492C8D63584C}" type="datetimeFigureOut">
              <a:rPr lang="en-CA" smtClean="0"/>
              <a:t>2026-08-05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5548-CCD8-43AB-A2F7-60836FEDB6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2658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E0F51-4A1B-4B2E-BDE5-492C8D63584C}" type="datetimeFigureOut">
              <a:rPr lang="en-CA" smtClean="0"/>
              <a:t>2026-08-05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5548-CCD8-43AB-A2F7-60836FEDB6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3021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E0F51-4A1B-4B2E-BDE5-492C8D63584C}" type="datetimeFigureOut">
              <a:rPr lang="en-CA" smtClean="0"/>
              <a:t>2026-08-05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5548-CCD8-43AB-A2F7-60836FEDB6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551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E0F51-4A1B-4B2E-BDE5-492C8D63584C}" type="datetimeFigureOut">
              <a:rPr lang="en-CA" smtClean="0"/>
              <a:t>2026-08-05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5548-CCD8-43AB-A2F7-60836FEDB6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4076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E0F51-4A1B-4B2E-BDE5-492C8D63584C}" type="datetimeFigureOut">
              <a:rPr lang="en-CA" smtClean="0"/>
              <a:t>2026-08-05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5548-CCD8-43AB-A2F7-60836FEDB6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7834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E0F51-4A1B-4B2E-BDE5-492C8D63584C}" type="datetimeFigureOut">
              <a:rPr lang="en-CA" smtClean="0"/>
              <a:t>2026-08-05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5548-CCD8-43AB-A2F7-60836FEDB6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0407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E0F51-4A1B-4B2E-BDE5-492C8D63584C}" type="datetimeFigureOut">
              <a:rPr lang="en-CA" smtClean="0"/>
              <a:t>2026-08-05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5548-CCD8-43AB-A2F7-60836FEDB6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6941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E0F51-4A1B-4B2E-BDE5-492C8D63584C}" type="datetimeFigureOut">
              <a:rPr lang="en-CA" smtClean="0"/>
              <a:t>2026-08-05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5548-CCD8-43AB-A2F7-60836FEDB6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1754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E0F51-4A1B-4B2E-BDE5-492C8D63584C}" type="datetimeFigureOut">
              <a:rPr lang="en-CA" smtClean="0"/>
              <a:t>2026-08-05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F5548-CCD8-43AB-A2F7-60836FEDB6A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5348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16/j.ijbiomac.2024.131706" TargetMode="External"/><Relationship Id="rId13" Type="http://schemas.openxmlformats.org/officeDocument/2006/relationships/hyperlink" Target="https://stringr.tidyverse.org/" TargetMode="External"/><Relationship Id="rId18" Type="http://schemas.openxmlformats.org/officeDocument/2006/relationships/hyperlink" Target="https://doi.org/10.1038/s41576-023-00663-0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doi.org/10.1016/j.tig.2023.08.004" TargetMode="External"/><Relationship Id="rId12" Type="http://schemas.openxmlformats.org/officeDocument/2006/relationships/hyperlink" Target="https://tidyr.tidyverse.org/" TargetMode="External"/><Relationship Id="rId17" Type="http://schemas.openxmlformats.org/officeDocument/2006/relationships/hyperlink" Target="https://doi.org/10.1186/s12859-019-3062-4" TargetMode="External"/><Relationship Id="rId2" Type="http://schemas.openxmlformats.org/officeDocument/2006/relationships/image" Target="../media/image1.png"/><Relationship Id="rId16" Type="http://schemas.openxmlformats.org/officeDocument/2006/relationships/hyperlink" Target="https://mitelmandatabase.isb-cgc.org/" TargetMode="External"/><Relationship Id="rId20" Type="http://schemas.openxmlformats.org/officeDocument/2006/relationships/hyperlink" Target="https://doi.org/10.1186/gm47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242/jcs.039537" TargetMode="External"/><Relationship Id="rId11" Type="http://schemas.openxmlformats.org/officeDocument/2006/relationships/hyperlink" Target="https://dplyr.tidyverse.org/" TargetMode="External"/><Relationship Id="rId5" Type="http://schemas.openxmlformats.org/officeDocument/2006/relationships/hyperlink" Target="https://doi.org/10.1038/nrclinonc.2013.67" TargetMode="External"/><Relationship Id="rId15" Type="http://schemas.openxmlformats.org/officeDocument/2006/relationships/hyperlink" Target="https://doi.org/10.1007/1-84628-168-7" TargetMode="External"/><Relationship Id="rId10" Type="http://schemas.openxmlformats.org/officeDocument/2006/relationships/hyperlink" Target="https://doi.org/10.1371/journal.pcbi.1010952" TargetMode="External"/><Relationship Id="rId19" Type="http://schemas.openxmlformats.org/officeDocument/2006/relationships/hyperlink" Target="https://doi.org/10.1158/2159-8290.CD-24-0813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doi.org/10.1201/9781003307921" TargetMode="External"/><Relationship Id="rId14" Type="http://schemas.openxmlformats.org/officeDocument/2006/relationships/hyperlink" Target="https://ggplot2.tidyverse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1">
                <a:lumMod val="20000"/>
                <a:lumOff val="80000"/>
              </a:schemeClr>
            </a:gs>
            <a:gs pos="0">
              <a:schemeClr val="accent1">
                <a:lumMod val="60000"/>
                <a:lumOff val="40000"/>
              </a:schemeClr>
            </a:gs>
            <a:gs pos="12000">
              <a:schemeClr val="bg1"/>
            </a:gs>
            <a:gs pos="38000">
              <a:schemeClr val="bg1"/>
            </a:gs>
            <a:gs pos="79000">
              <a:schemeClr val="bg1"/>
            </a:gs>
            <a:gs pos="25000">
              <a:srgbClr val="FFF9E7">
                <a:lumMod val="57000"/>
                <a:lumOff val="43000"/>
              </a:srgbClr>
            </a:gs>
            <a:gs pos="63000">
              <a:srgbClr val="FFF9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Picture 4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7922" y="20190039"/>
            <a:ext cx="12260713" cy="11599023"/>
          </a:xfrm>
          <a:prstGeom prst="rect">
            <a:avLst/>
          </a:prstGeom>
        </p:spPr>
      </p:pic>
      <p:cxnSp>
        <p:nvCxnSpPr>
          <p:cNvPr id="306" name="Straight Arrow Connector 255"/>
          <p:cNvCxnSpPr/>
          <p:nvPr/>
        </p:nvCxnSpPr>
        <p:spPr>
          <a:xfrm rot="10800000">
            <a:off x="31215452" y="9433756"/>
            <a:ext cx="7658000" cy="7351495"/>
          </a:xfrm>
          <a:prstGeom prst="curvedConnector3">
            <a:avLst>
              <a:gd name="adj1" fmla="val 63498"/>
            </a:avLst>
          </a:prstGeom>
          <a:ln w="76200" cap="flat" cmpd="sng" algn="ctr">
            <a:solidFill>
              <a:srgbClr val="73DCDF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760" y="682934"/>
            <a:ext cx="31473735" cy="1573392"/>
          </a:xfrm>
        </p:spPr>
        <p:txBody>
          <a:bodyPr>
            <a:noAutofit/>
          </a:bodyPr>
          <a:lstStyle/>
          <a:p>
            <a:r>
              <a:rPr lang="en-US" sz="8000" b="1" dirty="0"/>
              <a:t>Modeling CIN Cancer Evolution: A Dual Population </a:t>
            </a:r>
            <a:r>
              <a:rPr lang="en-US" sz="8000" b="1" dirty="0" smtClean="0"/>
              <a:t>Approach for Astrocytoma</a:t>
            </a:r>
            <a:endParaRPr lang="en-CA" sz="8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4867" y="3856496"/>
            <a:ext cx="4456905" cy="12470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600" b="1" dirty="0">
                <a:ln w="0"/>
                <a:solidFill>
                  <a:srgbClr val="A9D18E"/>
                </a:solidFill>
                <a:effectLst>
                  <a:reflection blurRad="6350" stA="53000" endA="300" endPos="35500" dir="5400000" sy="-90000" algn="bl" rotWithShape="0"/>
                </a:effectLst>
              </a:rPr>
              <a:t>Background</a:t>
            </a:r>
            <a:endParaRPr lang="en-CA" sz="9600" b="1" dirty="0">
              <a:ln w="0"/>
              <a:solidFill>
                <a:srgbClr val="A9D18E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6629" y="2169181"/>
            <a:ext cx="26305086" cy="8679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40" dirty="0"/>
              <a:t>William </a:t>
            </a:r>
            <a:r>
              <a:rPr lang="en-US" sz="5040" dirty="0" smtClean="0"/>
              <a:t>Feinman</a:t>
            </a:r>
            <a:r>
              <a:rPr lang="en-US" sz="5040" baseline="30000" dirty="0" smtClean="0"/>
              <a:t>1</a:t>
            </a:r>
            <a:r>
              <a:rPr lang="en-US" sz="5040" dirty="0" smtClean="0"/>
              <a:t>, </a:t>
            </a:r>
            <a:r>
              <a:rPr lang="en-US" sz="5040" dirty="0"/>
              <a:t>Kelly </a:t>
            </a:r>
            <a:r>
              <a:rPr lang="en-US" sz="5040" dirty="0" smtClean="0"/>
              <a:t>Brock</a:t>
            </a:r>
            <a:r>
              <a:rPr lang="en-US" sz="5400" baseline="30000" dirty="0"/>
              <a:t>3</a:t>
            </a:r>
            <a:r>
              <a:rPr lang="en-US" sz="5040" dirty="0" smtClean="0"/>
              <a:t>, </a:t>
            </a:r>
            <a:r>
              <a:rPr lang="en-CA" sz="5040" dirty="0" err="1"/>
              <a:t>Arijit</a:t>
            </a:r>
            <a:r>
              <a:rPr lang="en-CA" sz="5040" dirty="0"/>
              <a:t> </a:t>
            </a:r>
            <a:r>
              <a:rPr lang="en-CA" sz="5040" dirty="0" err="1" smtClean="0"/>
              <a:t>Chakravarty</a:t>
            </a:r>
            <a:r>
              <a:rPr lang="en-US" sz="5040" baseline="30000" dirty="0" smtClean="0"/>
              <a:t>2</a:t>
            </a:r>
            <a:r>
              <a:rPr lang="en-CA" sz="5040" dirty="0" smtClean="0"/>
              <a:t>, </a:t>
            </a:r>
            <a:r>
              <a:rPr lang="en-CA" sz="5040" dirty="0"/>
              <a:t>Madison </a:t>
            </a:r>
            <a:r>
              <a:rPr lang="en-CA" sz="5040" dirty="0" smtClean="0"/>
              <a:t>Stoddard</a:t>
            </a:r>
            <a:r>
              <a:rPr lang="en-US" sz="5040" baseline="30000" dirty="0" smtClean="0"/>
              <a:t>2</a:t>
            </a:r>
            <a:r>
              <a:rPr lang="en-CA" sz="5040" dirty="0" smtClean="0"/>
              <a:t>, </a:t>
            </a:r>
            <a:r>
              <a:rPr lang="en-CA" sz="5040" dirty="0" err="1"/>
              <a:t>Paniz</a:t>
            </a:r>
            <a:r>
              <a:rPr lang="en-CA" sz="5040" dirty="0"/>
              <a:t> </a:t>
            </a:r>
            <a:r>
              <a:rPr lang="en-CA" sz="5040" dirty="0" err="1" smtClean="0"/>
              <a:t>Tayebi</a:t>
            </a:r>
            <a:r>
              <a:rPr lang="en-US" sz="5040" baseline="30000" dirty="0"/>
              <a:t>1</a:t>
            </a:r>
            <a:r>
              <a:rPr lang="en-CA" sz="5040" dirty="0" smtClean="0"/>
              <a:t>, </a:t>
            </a:r>
            <a:r>
              <a:rPr lang="en-US" sz="5040" dirty="0"/>
              <a:t>Ryan </a:t>
            </a:r>
            <a:r>
              <a:rPr lang="en-US" sz="5040" dirty="0" smtClean="0"/>
              <a:t>Gregory</a:t>
            </a:r>
            <a:r>
              <a:rPr lang="en-US" sz="5040" baseline="30000" dirty="0"/>
              <a:t>1</a:t>
            </a:r>
            <a:endParaRPr lang="en-CA" sz="504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7316" y="983845"/>
            <a:ext cx="7257607" cy="24222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34868" y="5269094"/>
            <a:ext cx="16041904" cy="1154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indent="-1371600">
              <a:buFont typeface="Arial" panose="020B0604020202020204" pitchFamily="34" charset="0"/>
              <a:buChar char="•"/>
            </a:pPr>
            <a:r>
              <a:rPr lang="en-US" sz="4400" b="1" dirty="0"/>
              <a:t>Chromosome Instability (CIN)</a:t>
            </a:r>
            <a:r>
              <a:rPr lang="en-US" sz="4400" dirty="0"/>
              <a:t> in cancer cells leads to abnormal karyotypes, wherein chromosomes are duplicated, lost, fragmented, or blended together.</a:t>
            </a:r>
          </a:p>
          <a:p>
            <a:pPr marL="1371600" indent="-1371600">
              <a:buFont typeface="Arial" panose="020B0604020202020204" pitchFamily="34" charset="0"/>
              <a:buChar char="•"/>
            </a:pPr>
            <a:endParaRPr lang="en-US" sz="4400" dirty="0"/>
          </a:p>
          <a:p>
            <a:pPr marL="1371600" indent="-1371600">
              <a:buFont typeface="Arial" panose="020B0604020202020204" pitchFamily="34" charset="0"/>
              <a:buChar char="•"/>
            </a:pPr>
            <a:r>
              <a:rPr lang="en-US" sz="4400" b="1" dirty="0" smtClean="0"/>
              <a:t>One </a:t>
            </a:r>
            <a:r>
              <a:rPr lang="en-US" sz="4400" b="1" dirty="0"/>
              <a:t>trend: Bimodality</a:t>
            </a:r>
            <a:r>
              <a:rPr lang="en-US" sz="4400" dirty="0"/>
              <a:t>. The same type of cancer can have very different chromosome counts, </a:t>
            </a:r>
            <a:r>
              <a:rPr lang="en-US" sz="4400" dirty="0" smtClean="0"/>
              <a:t>having a peak </a:t>
            </a:r>
            <a:r>
              <a:rPr lang="en-US" sz="4400" dirty="0"/>
              <a:t>close to standard </a:t>
            </a:r>
            <a:r>
              <a:rPr lang="en-US" sz="4400" dirty="0" smtClean="0"/>
              <a:t>chromosome content </a:t>
            </a:r>
            <a:r>
              <a:rPr lang="en-US" sz="4400" dirty="0"/>
              <a:t>(2c), </a:t>
            </a:r>
            <a:r>
              <a:rPr lang="en-US" sz="4400" dirty="0" smtClean="0"/>
              <a:t>and a peak at a highly </a:t>
            </a:r>
            <a:r>
              <a:rPr lang="en-US" sz="4400" dirty="0"/>
              <a:t>increased counts (3c, 4c, etc.), but </a:t>
            </a:r>
            <a:r>
              <a:rPr lang="en-US" sz="4400" dirty="0" smtClean="0"/>
              <a:t>fewer </a:t>
            </a:r>
            <a:r>
              <a:rPr lang="en-US" sz="4400" dirty="0"/>
              <a:t>intermediate counts between those peaks</a:t>
            </a:r>
            <a:r>
              <a:rPr lang="en-US" sz="4400" dirty="0" smtClean="0"/>
              <a:t>.</a:t>
            </a:r>
          </a:p>
          <a:p>
            <a:pPr marL="1371600" indent="-1371600">
              <a:buFont typeface="Arial" panose="020B0604020202020204" pitchFamily="34" charset="0"/>
              <a:buChar char="•"/>
            </a:pPr>
            <a:endParaRPr lang="en-US" sz="4400" dirty="0"/>
          </a:p>
          <a:p>
            <a:pPr marL="1371600" indent="-1371600">
              <a:buFont typeface="Arial" panose="020B0604020202020204" pitchFamily="34" charset="0"/>
              <a:buChar char="•"/>
            </a:pPr>
            <a:r>
              <a:rPr lang="en-US" sz="4400" b="1" dirty="0" smtClean="0"/>
              <a:t>Explanation: Whole Genome Doubling (WGD)</a:t>
            </a:r>
            <a:r>
              <a:rPr lang="en-US" sz="4400" dirty="0" smtClean="0"/>
              <a:t>, where a mitotic mishap makes it double the existing count.</a:t>
            </a:r>
          </a:p>
          <a:p>
            <a:pPr marL="1371600" indent="-1371600">
              <a:buFont typeface="Arial" panose="020B0604020202020204" pitchFamily="34" charset="0"/>
              <a:buChar char="•"/>
            </a:pPr>
            <a:endParaRPr lang="en-US" sz="4400" dirty="0"/>
          </a:p>
          <a:p>
            <a:pPr marL="1371600" indent="-1371600">
              <a:buFont typeface="Arial" panose="020B0604020202020204" pitchFamily="34" charset="0"/>
              <a:buChar char="•"/>
            </a:pPr>
            <a:r>
              <a:rPr lang="en-US" sz="4400" b="1" dirty="0" smtClean="0"/>
              <a:t>Problem:</a:t>
            </a:r>
            <a:r>
              <a:rPr lang="en-US" sz="4400" dirty="0" smtClean="0"/>
              <a:t> The high count peak often doesn’t match what we’d expect from WGD, and has a very different shape in count distribution from the 2c peak.</a:t>
            </a:r>
          </a:p>
          <a:p>
            <a:pPr marL="1371600" indent="-1371600">
              <a:buFont typeface="Arial" panose="020B0604020202020204" pitchFamily="34" charset="0"/>
              <a:buChar char="•"/>
            </a:pPr>
            <a:endParaRPr lang="en-US" sz="4000" dirty="0"/>
          </a:p>
        </p:txBody>
      </p:sp>
      <p:sp>
        <p:nvSpPr>
          <p:cNvPr id="12" name="TextBox 11"/>
          <p:cNvSpPr txBox="1"/>
          <p:nvPr/>
        </p:nvSpPr>
        <p:spPr>
          <a:xfrm>
            <a:off x="22259498" y="5473166"/>
            <a:ext cx="1934162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 smtClean="0"/>
              <a:t>Possible solution: </a:t>
            </a:r>
            <a:r>
              <a:rPr lang="en-US" sz="4400" dirty="0" smtClean="0"/>
              <a:t>Two cancer populations, using different evolutionary strategies.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4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 smtClean="0"/>
              <a:t>To test, we use a </a:t>
            </a:r>
            <a:r>
              <a:rPr lang="en-US" sz="4400" b="1" dirty="0" smtClean="0"/>
              <a:t>Markov Chain</a:t>
            </a:r>
            <a:r>
              <a:rPr lang="en-US" sz="4400" dirty="0" smtClean="0"/>
              <a:t>, followed by a </a:t>
            </a:r>
            <a:r>
              <a:rPr lang="en-US" sz="4400" b="1" dirty="0" smtClean="0"/>
              <a:t>grid search</a:t>
            </a:r>
            <a:r>
              <a:rPr lang="en-US" sz="4400" dirty="0" smtClean="0"/>
              <a:t>.</a:t>
            </a:r>
            <a:endParaRPr lang="en-US" sz="4800" dirty="0" smtClean="0"/>
          </a:p>
        </p:txBody>
      </p:sp>
      <p:sp>
        <p:nvSpPr>
          <p:cNvPr id="32" name="Oval 31"/>
          <p:cNvSpPr/>
          <p:nvPr/>
        </p:nvSpPr>
        <p:spPr>
          <a:xfrm>
            <a:off x="27482766" y="11856060"/>
            <a:ext cx="3185110" cy="3185110"/>
          </a:xfrm>
          <a:prstGeom prst="ellipse">
            <a:avLst/>
          </a:prstGeom>
          <a:solidFill>
            <a:srgbClr val="F76F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A</a:t>
            </a:r>
            <a:endParaRPr lang="en-US" sz="6000" dirty="0" smtClean="0"/>
          </a:p>
          <a:p>
            <a:pPr algn="ctr"/>
            <a:r>
              <a:rPr lang="en-US" sz="6000" dirty="0" smtClean="0"/>
              <a:t>(2c)</a:t>
            </a:r>
            <a:endParaRPr lang="en-CA" sz="6000" dirty="0"/>
          </a:p>
        </p:txBody>
      </p:sp>
      <p:sp>
        <p:nvSpPr>
          <p:cNvPr id="34" name="Oval 33"/>
          <p:cNvSpPr/>
          <p:nvPr/>
        </p:nvSpPr>
        <p:spPr>
          <a:xfrm>
            <a:off x="36195837" y="11971078"/>
            <a:ext cx="2560025" cy="2560025"/>
          </a:xfrm>
          <a:prstGeom prst="ellipse">
            <a:avLst/>
          </a:prstGeom>
          <a:solidFill>
            <a:srgbClr val="F7C39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/>
              <a:t>BB</a:t>
            </a:r>
          </a:p>
          <a:p>
            <a:pPr algn="ctr"/>
            <a:r>
              <a:rPr lang="en-US" sz="4400" dirty="0" smtClean="0"/>
              <a:t>(4c-1)</a:t>
            </a:r>
            <a:endParaRPr lang="en-CA" sz="4400" dirty="0"/>
          </a:p>
        </p:txBody>
      </p:sp>
      <p:sp>
        <p:nvSpPr>
          <p:cNvPr id="35" name="Oval 34"/>
          <p:cNvSpPr/>
          <p:nvPr/>
        </p:nvSpPr>
        <p:spPr>
          <a:xfrm>
            <a:off x="34507611" y="8901904"/>
            <a:ext cx="2490506" cy="2560025"/>
          </a:xfrm>
          <a:prstGeom prst="ellipse">
            <a:avLst/>
          </a:prstGeom>
          <a:solidFill>
            <a:srgbClr val="A1C6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/>
              <a:t>BB</a:t>
            </a:r>
          </a:p>
          <a:p>
            <a:pPr algn="ctr"/>
            <a:r>
              <a:rPr lang="en-US" sz="4400" dirty="0" smtClean="0"/>
              <a:t>(4c+1)</a:t>
            </a:r>
            <a:endParaRPr lang="en-CA" sz="4400" dirty="0"/>
          </a:p>
        </p:txBody>
      </p:sp>
      <p:sp>
        <p:nvSpPr>
          <p:cNvPr id="36" name="Oval 35"/>
          <p:cNvSpPr/>
          <p:nvPr/>
        </p:nvSpPr>
        <p:spPr>
          <a:xfrm>
            <a:off x="31826235" y="11891596"/>
            <a:ext cx="3185110" cy="3185110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 smtClean="0"/>
              <a:t>BB</a:t>
            </a:r>
          </a:p>
          <a:p>
            <a:pPr algn="ctr"/>
            <a:r>
              <a:rPr lang="en-US" sz="6000" dirty="0" smtClean="0"/>
              <a:t>(4c)</a:t>
            </a:r>
            <a:endParaRPr lang="en-CA" sz="6000" dirty="0"/>
          </a:p>
        </p:txBody>
      </p:sp>
      <p:sp>
        <p:nvSpPr>
          <p:cNvPr id="37" name="Oval 36"/>
          <p:cNvSpPr/>
          <p:nvPr/>
        </p:nvSpPr>
        <p:spPr>
          <a:xfrm>
            <a:off x="25229228" y="8416451"/>
            <a:ext cx="2560025" cy="2560025"/>
          </a:xfrm>
          <a:prstGeom prst="ellipse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/>
              <a:t>A</a:t>
            </a:r>
          </a:p>
          <a:p>
            <a:pPr algn="ctr"/>
            <a:r>
              <a:rPr lang="en-US" sz="4400" dirty="0" smtClean="0"/>
              <a:t>(2c+1)</a:t>
            </a:r>
            <a:endParaRPr lang="en-CA" sz="4400" dirty="0"/>
          </a:p>
        </p:txBody>
      </p:sp>
      <p:sp>
        <p:nvSpPr>
          <p:cNvPr id="38" name="Oval 37"/>
          <p:cNvSpPr/>
          <p:nvPr/>
        </p:nvSpPr>
        <p:spPr>
          <a:xfrm>
            <a:off x="23174330" y="11311592"/>
            <a:ext cx="2560025" cy="2560025"/>
          </a:xfrm>
          <a:prstGeom prst="ellipse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/>
              <a:t>A</a:t>
            </a:r>
          </a:p>
          <a:p>
            <a:pPr algn="ctr"/>
            <a:r>
              <a:rPr lang="en-US" sz="4400" dirty="0" smtClean="0"/>
              <a:t>(2c+-1)</a:t>
            </a:r>
            <a:endParaRPr lang="en-CA" sz="4400" dirty="0"/>
          </a:p>
        </p:txBody>
      </p:sp>
      <p:sp>
        <p:nvSpPr>
          <p:cNvPr id="39" name="Oval 38"/>
          <p:cNvSpPr/>
          <p:nvPr/>
        </p:nvSpPr>
        <p:spPr>
          <a:xfrm>
            <a:off x="29766960" y="8192674"/>
            <a:ext cx="2482162" cy="248216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 smtClean="0"/>
              <a:t>Start</a:t>
            </a:r>
          </a:p>
          <a:p>
            <a:pPr algn="ctr"/>
            <a:r>
              <a:rPr lang="en-US" sz="6000" dirty="0" smtClean="0"/>
              <a:t>(2c)</a:t>
            </a:r>
          </a:p>
        </p:txBody>
      </p:sp>
      <p:cxnSp>
        <p:nvCxnSpPr>
          <p:cNvPr id="41" name="Straight Arrow Connector 40"/>
          <p:cNvCxnSpPr>
            <a:endCxn id="32" idx="0"/>
          </p:cNvCxnSpPr>
          <p:nvPr/>
        </p:nvCxnSpPr>
        <p:spPr>
          <a:xfrm flipH="1">
            <a:off x="29075321" y="10181916"/>
            <a:ext cx="1126106" cy="1674144"/>
          </a:xfrm>
          <a:prstGeom prst="straightConnector1">
            <a:avLst/>
          </a:prstGeom>
          <a:ln w="76200" cap="flat" cmpd="sng" algn="ctr">
            <a:solidFill>
              <a:srgbClr val="F76F6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2" idx="2"/>
            <a:endCxn id="38" idx="6"/>
          </p:cNvCxnSpPr>
          <p:nvPr/>
        </p:nvCxnSpPr>
        <p:spPr>
          <a:xfrm flipH="1" flipV="1">
            <a:off x="25734355" y="12591605"/>
            <a:ext cx="1748411" cy="857010"/>
          </a:xfrm>
          <a:prstGeom prst="straightConnector1">
            <a:avLst/>
          </a:prstGeom>
          <a:ln w="76200" cap="flat" cmpd="sng" algn="ctr">
            <a:solidFill>
              <a:srgbClr val="ED7D3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32" idx="2"/>
            <a:endCxn id="37" idx="4"/>
          </p:cNvCxnSpPr>
          <p:nvPr/>
        </p:nvCxnSpPr>
        <p:spPr>
          <a:xfrm flipH="1" flipV="1">
            <a:off x="26509241" y="10976476"/>
            <a:ext cx="973525" cy="2472139"/>
          </a:xfrm>
          <a:prstGeom prst="straightConnector1">
            <a:avLst/>
          </a:prstGeom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32" idx="6"/>
            <a:endCxn id="36" idx="2"/>
          </p:cNvCxnSpPr>
          <p:nvPr/>
        </p:nvCxnSpPr>
        <p:spPr>
          <a:xfrm>
            <a:off x="30667876" y="13448615"/>
            <a:ext cx="1158359" cy="35536"/>
          </a:xfrm>
          <a:prstGeom prst="straightConnector1">
            <a:avLst/>
          </a:prstGeom>
          <a:ln w="76200" cap="flat" cmpd="sng" algn="ctr">
            <a:solidFill>
              <a:srgbClr val="1F4E7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36" idx="6"/>
            <a:endCxn id="35" idx="4"/>
          </p:cNvCxnSpPr>
          <p:nvPr/>
        </p:nvCxnSpPr>
        <p:spPr>
          <a:xfrm flipV="1">
            <a:off x="35011345" y="11461929"/>
            <a:ext cx="741519" cy="2022222"/>
          </a:xfrm>
          <a:prstGeom prst="straightConnector1">
            <a:avLst/>
          </a:prstGeom>
          <a:ln w="76200" cap="flat" cmpd="sng" algn="ctr">
            <a:solidFill>
              <a:srgbClr val="5B9BD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36" idx="6"/>
            <a:endCxn id="34" idx="2"/>
          </p:cNvCxnSpPr>
          <p:nvPr/>
        </p:nvCxnSpPr>
        <p:spPr>
          <a:xfrm flipV="1">
            <a:off x="35011345" y="13251091"/>
            <a:ext cx="1184492" cy="233060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4" name="Picture 8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05931" y="20229795"/>
            <a:ext cx="14643031" cy="11559267"/>
          </a:xfrm>
          <a:prstGeom prst="rect">
            <a:avLst/>
          </a:prstGeom>
        </p:spPr>
      </p:pic>
      <p:sp>
        <p:nvSpPr>
          <p:cNvPr id="149" name="Rectangle 148"/>
          <p:cNvSpPr/>
          <p:nvPr/>
        </p:nvSpPr>
        <p:spPr>
          <a:xfrm>
            <a:off x="34977559" y="13367621"/>
            <a:ext cx="9444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E6ED8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pB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CE6ED8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26505972" y="13274384"/>
            <a:ext cx="9765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pA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7030A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30896639" y="12532338"/>
            <a:ext cx="70083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1F4E79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w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1F4E79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79" name="Rectangle 178"/>
          <p:cNvSpPr/>
          <p:nvPr/>
        </p:nvSpPr>
        <p:spPr>
          <a:xfrm>
            <a:off x="22301824" y="8416451"/>
            <a:ext cx="292740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u="sng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|(x-</a:t>
            </a:r>
            <a:r>
              <a:rPr lang="en-US" sz="5400" b="1" u="sng" cap="none" spc="0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pkA</a:t>
            </a:r>
            <a:r>
              <a:rPr lang="en-US" sz="5400" b="1" u="sng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)|</a:t>
            </a:r>
          </a:p>
          <a:p>
            <a:pPr algn="ctr"/>
            <a:r>
              <a:rPr lang="en-US" sz="5400" b="1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sAg</a:t>
            </a:r>
            <a:endParaRPr lang="en-US" sz="5400" b="1" cap="none" spc="0" dirty="0" smtClean="0">
              <a:ln w="9525">
                <a:solidFill>
                  <a:schemeClr val="bg1"/>
                </a:solidFill>
                <a:prstDash val="solid"/>
              </a:ln>
              <a:solidFill>
                <a:srgbClr val="5B9BD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81" name="Content Placeholder 2"/>
          <p:cNvSpPr txBox="1">
            <a:spLocks/>
          </p:cNvSpPr>
          <p:nvPr/>
        </p:nvSpPr>
        <p:spPr>
          <a:xfrm>
            <a:off x="22580115" y="3904964"/>
            <a:ext cx="6858000" cy="1247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097280" indent="-1097280" algn="l" defTabSz="4389120" rtl="0" eaLnBrk="1" latinLnBrk="0" hangingPunct="1">
              <a:lnSpc>
                <a:spcPct val="90000"/>
              </a:lnSpc>
              <a:spcBef>
                <a:spcPts val="4800"/>
              </a:spcBef>
              <a:buFont typeface="Arial" panose="020B0604020202020204" pitchFamily="34" charset="0"/>
              <a:buChar char="•"/>
              <a:defRPr sz="13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918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11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9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52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92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7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6600" b="1" dirty="0" smtClean="0">
                <a:ln w="0"/>
                <a:solidFill>
                  <a:srgbClr val="F76F65"/>
                </a:solidFill>
                <a:effectLst>
                  <a:reflection blurRad="6350" stA="53000" endA="300" endPos="35500" dir="5400000" sy="-90000" algn="bl" rotWithShape="0"/>
                </a:effectLst>
              </a:rPr>
              <a:t>Methods</a:t>
            </a:r>
            <a:endParaRPr lang="en-CA" sz="9600" b="1" dirty="0">
              <a:ln w="0"/>
              <a:solidFill>
                <a:srgbClr val="F76F65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83" name="Content Placeholder 2"/>
          <p:cNvSpPr txBox="1">
            <a:spLocks/>
          </p:cNvSpPr>
          <p:nvPr/>
        </p:nvSpPr>
        <p:spPr>
          <a:xfrm>
            <a:off x="24916375" y="18624579"/>
            <a:ext cx="2800205" cy="1247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097280" indent="-1097280" algn="l" defTabSz="4389120" rtl="0" eaLnBrk="1" latinLnBrk="0" hangingPunct="1">
              <a:lnSpc>
                <a:spcPct val="90000"/>
              </a:lnSpc>
              <a:spcBef>
                <a:spcPts val="4800"/>
              </a:spcBef>
              <a:buFont typeface="Arial" panose="020B0604020202020204" pitchFamily="34" charset="0"/>
              <a:buChar char="•"/>
              <a:defRPr sz="13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918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11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9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52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92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7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6600" b="1" dirty="0" smtClean="0">
                <a:ln w="0"/>
                <a:solidFill>
                  <a:srgbClr val="73DCDF"/>
                </a:solidFill>
                <a:effectLst>
                  <a:reflection blurRad="6350" stA="53000" endA="300" endPos="35500" dir="5400000" sy="-90000" algn="bl" rotWithShape="0"/>
                </a:effectLst>
              </a:rPr>
              <a:t>Results</a:t>
            </a:r>
            <a:endParaRPr lang="en-CA" sz="9600" b="1" dirty="0">
              <a:ln w="0"/>
              <a:solidFill>
                <a:srgbClr val="73DCDF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90" name="Rectangle 189"/>
          <p:cNvSpPr/>
          <p:nvPr/>
        </p:nvSpPr>
        <p:spPr>
          <a:xfrm>
            <a:off x="36998117" y="8909763"/>
            <a:ext cx="289534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u="sng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A1C6E7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|(x-</a:t>
            </a:r>
            <a:r>
              <a:rPr lang="en-US" sz="5400" b="1" u="sng" cap="none" spc="0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A1C6E7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pkB</a:t>
            </a:r>
            <a:r>
              <a:rPr lang="en-US" sz="5400" b="1" u="sng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A1C6E7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)|</a:t>
            </a:r>
          </a:p>
          <a:p>
            <a:pPr algn="ctr"/>
            <a:r>
              <a:rPr lang="en-US" sz="5400" b="1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A1C6E7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sBg</a:t>
            </a:r>
            <a:endParaRPr lang="en-US" sz="5400" b="1" cap="none" spc="0" dirty="0" smtClean="0">
              <a:ln w="9525">
                <a:solidFill>
                  <a:schemeClr val="bg1"/>
                </a:solidFill>
                <a:prstDash val="solid"/>
              </a:ln>
              <a:solidFill>
                <a:srgbClr val="A1C6E7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91" name="Rectangle 190"/>
          <p:cNvSpPr/>
          <p:nvPr/>
        </p:nvSpPr>
        <p:spPr>
          <a:xfrm>
            <a:off x="20430616" y="11554010"/>
            <a:ext cx="292740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u="sng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ED7D3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|(x-</a:t>
            </a:r>
            <a:r>
              <a:rPr lang="en-US" sz="5400" b="1" u="sng" cap="none" spc="0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ED7D3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pkA</a:t>
            </a:r>
            <a:r>
              <a:rPr lang="en-US" sz="5400" b="1" u="sng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ED7D3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)|</a:t>
            </a:r>
          </a:p>
          <a:p>
            <a:pPr algn="ctr"/>
            <a:r>
              <a:rPr lang="en-US" sz="5400" b="1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ED7D3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sAl</a:t>
            </a:r>
            <a:endParaRPr lang="en-US" sz="5400" b="1" cap="none" spc="0" dirty="0" smtClean="0">
              <a:ln w="9525">
                <a:solidFill>
                  <a:schemeClr val="bg1"/>
                </a:solidFill>
                <a:prstDash val="solid"/>
              </a:ln>
              <a:solidFill>
                <a:srgbClr val="ED7D31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cxnSp>
        <p:nvCxnSpPr>
          <p:cNvPr id="193" name="Straight Arrow Connector 192"/>
          <p:cNvCxnSpPr>
            <a:stCxn id="179" idx="1"/>
          </p:cNvCxnSpPr>
          <p:nvPr/>
        </p:nvCxnSpPr>
        <p:spPr>
          <a:xfrm rot="10800000" flipV="1">
            <a:off x="20350900" y="9293614"/>
            <a:ext cx="1950925" cy="4753712"/>
          </a:xfrm>
          <a:prstGeom prst="bentConnector2">
            <a:avLst/>
          </a:prstGeom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2" name="Rectangle 191"/>
          <p:cNvSpPr/>
          <p:nvPr/>
        </p:nvSpPr>
        <p:spPr>
          <a:xfrm>
            <a:off x="37891544" y="11408423"/>
            <a:ext cx="289534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u="sng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7C39F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|(x-</a:t>
            </a:r>
            <a:r>
              <a:rPr lang="en-US" sz="5400" b="1" u="sng" cap="none" spc="0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7C39F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pkB</a:t>
            </a:r>
            <a:r>
              <a:rPr lang="en-US" sz="5400" b="1" u="sng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7C39F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)|</a:t>
            </a:r>
          </a:p>
          <a:p>
            <a:pPr algn="ctr"/>
            <a:r>
              <a:rPr lang="en-US" sz="5400" b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7C39F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sBl</a:t>
            </a:r>
            <a:endParaRPr lang="en-US" sz="5400" b="1" cap="none" spc="0" dirty="0" smtClean="0">
              <a:ln w="9525">
                <a:solidFill>
                  <a:schemeClr val="bg1"/>
                </a:solidFill>
                <a:prstDash val="solid"/>
              </a:ln>
              <a:solidFill>
                <a:srgbClr val="F7C39F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cxnSp>
        <p:nvCxnSpPr>
          <p:cNvPr id="215" name="Straight Arrow Connector 192"/>
          <p:cNvCxnSpPr>
            <a:stCxn id="38" idx="2"/>
          </p:cNvCxnSpPr>
          <p:nvPr/>
        </p:nvCxnSpPr>
        <p:spPr>
          <a:xfrm rot="10800000" flipV="1">
            <a:off x="22609418" y="12591605"/>
            <a:ext cx="564912" cy="1439164"/>
          </a:xfrm>
          <a:prstGeom prst="bentConnector2">
            <a:avLst/>
          </a:prstGeom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2" name="Straight Arrow Connector 192"/>
          <p:cNvCxnSpPr/>
          <p:nvPr/>
        </p:nvCxnSpPr>
        <p:spPr>
          <a:xfrm rot="16200000" flipH="1">
            <a:off x="38388070" y="11329241"/>
            <a:ext cx="4894033" cy="1628475"/>
          </a:xfrm>
          <a:prstGeom prst="bentConnector3">
            <a:avLst>
              <a:gd name="adj1" fmla="val -365"/>
            </a:avLst>
          </a:prstGeom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3" name="Straight Arrow Connector 192"/>
          <p:cNvCxnSpPr>
            <a:stCxn id="34" idx="6"/>
          </p:cNvCxnSpPr>
          <p:nvPr/>
        </p:nvCxnSpPr>
        <p:spPr>
          <a:xfrm>
            <a:off x="38755862" y="13251091"/>
            <a:ext cx="606109" cy="1315547"/>
          </a:xfrm>
          <a:prstGeom prst="bentConnector2">
            <a:avLst/>
          </a:prstGeom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6" name="Rounded Rectangle 235"/>
          <p:cNvSpPr/>
          <p:nvPr/>
        </p:nvSpPr>
        <p:spPr>
          <a:xfrm>
            <a:off x="20069839" y="14047326"/>
            <a:ext cx="4220660" cy="108634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/>
              <a:t>Selection</a:t>
            </a:r>
            <a:endParaRPr lang="en-CA" sz="4800" dirty="0"/>
          </a:p>
        </p:txBody>
      </p:sp>
      <p:sp>
        <p:nvSpPr>
          <p:cNvPr id="237" name="Rounded Rectangle 236"/>
          <p:cNvSpPr/>
          <p:nvPr/>
        </p:nvSpPr>
        <p:spPr>
          <a:xfrm>
            <a:off x="37693756" y="14689749"/>
            <a:ext cx="4220660" cy="108634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/>
              <a:t>Selection</a:t>
            </a:r>
            <a:endParaRPr lang="en-CA" sz="4800" dirty="0"/>
          </a:p>
        </p:txBody>
      </p:sp>
      <p:cxnSp>
        <p:nvCxnSpPr>
          <p:cNvPr id="256" name="Straight Arrow Connector 255"/>
          <p:cNvCxnSpPr>
            <a:stCxn id="236" idx="3"/>
            <a:endCxn id="266" idx="1"/>
          </p:cNvCxnSpPr>
          <p:nvPr/>
        </p:nvCxnSpPr>
        <p:spPr>
          <a:xfrm>
            <a:off x="24290499" y="14590496"/>
            <a:ext cx="4218159" cy="1923170"/>
          </a:xfrm>
          <a:prstGeom prst="curvedConnector3">
            <a:avLst>
              <a:gd name="adj1" fmla="val 50000"/>
            </a:avLst>
          </a:prstGeom>
          <a:ln w="762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2" name="Straight Arrow Connector 255"/>
          <p:cNvCxnSpPr>
            <a:stCxn id="237" idx="1"/>
            <a:endCxn id="266" idx="3"/>
          </p:cNvCxnSpPr>
          <p:nvPr/>
        </p:nvCxnSpPr>
        <p:spPr>
          <a:xfrm rot="10800000" flipV="1">
            <a:off x="33673668" y="15232918"/>
            <a:ext cx="4020088" cy="1280747"/>
          </a:xfrm>
          <a:prstGeom prst="curvedConnector3">
            <a:avLst>
              <a:gd name="adj1" fmla="val 50000"/>
            </a:avLst>
          </a:prstGeom>
          <a:ln w="762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6" name="Rounded Rectangle 265"/>
          <p:cNvSpPr/>
          <p:nvPr/>
        </p:nvSpPr>
        <p:spPr>
          <a:xfrm>
            <a:off x="28508658" y="15970496"/>
            <a:ext cx="5165010" cy="108634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/>
              <a:t>Repeat for t=5000</a:t>
            </a:r>
            <a:endParaRPr lang="en-CA" sz="4800" dirty="0"/>
          </a:p>
        </p:txBody>
      </p:sp>
      <p:cxnSp>
        <p:nvCxnSpPr>
          <p:cNvPr id="278" name="Straight Arrow Connector 255"/>
          <p:cNvCxnSpPr>
            <a:endCxn id="36" idx="3"/>
          </p:cNvCxnSpPr>
          <p:nvPr/>
        </p:nvCxnSpPr>
        <p:spPr>
          <a:xfrm rot="5400000" flipH="1" flipV="1">
            <a:off x="31137155" y="14658756"/>
            <a:ext cx="1204027" cy="1107031"/>
          </a:xfrm>
          <a:prstGeom prst="curvedConnector3">
            <a:avLst>
              <a:gd name="adj1" fmla="val 50000"/>
            </a:avLst>
          </a:prstGeom>
          <a:ln w="762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1" name="Straight Arrow Connector 255"/>
          <p:cNvCxnSpPr>
            <a:stCxn id="266" idx="0"/>
            <a:endCxn id="32" idx="5"/>
          </p:cNvCxnSpPr>
          <p:nvPr/>
        </p:nvCxnSpPr>
        <p:spPr>
          <a:xfrm rot="16200000" flipV="1">
            <a:off x="29948408" y="14827741"/>
            <a:ext cx="1395775" cy="889736"/>
          </a:xfrm>
          <a:prstGeom prst="curvedConnector3">
            <a:avLst>
              <a:gd name="adj1" fmla="val 50000"/>
            </a:avLst>
          </a:prstGeom>
          <a:ln w="762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4" name="Straight Arrow Connector 255"/>
          <p:cNvCxnSpPr>
            <a:stCxn id="266" idx="2"/>
          </p:cNvCxnSpPr>
          <p:nvPr/>
        </p:nvCxnSpPr>
        <p:spPr>
          <a:xfrm rot="16200000" flipH="1">
            <a:off x="32547867" y="15600132"/>
            <a:ext cx="2191266" cy="5104674"/>
          </a:xfrm>
          <a:prstGeom prst="curvedConnector2">
            <a:avLst/>
          </a:prstGeom>
          <a:ln w="76200" cap="flat" cmpd="sng" algn="ctr">
            <a:solidFill>
              <a:srgbClr val="73DCDF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7" name="Rounded Rectangle 286"/>
          <p:cNvSpPr/>
          <p:nvPr/>
        </p:nvSpPr>
        <p:spPr>
          <a:xfrm>
            <a:off x="36210640" y="16868448"/>
            <a:ext cx="5758518" cy="2772998"/>
          </a:xfrm>
          <a:prstGeom prst="roundRect">
            <a:avLst/>
          </a:prstGeom>
          <a:solidFill>
            <a:srgbClr val="73DCD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/>
              <a:t>Iterate for every value of </a:t>
            </a:r>
            <a:r>
              <a:rPr lang="en-US" sz="4800" b="1" dirty="0" smtClean="0"/>
              <a:t>every</a:t>
            </a:r>
            <a:r>
              <a:rPr lang="en-US" sz="4800" dirty="0" smtClean="0"/>
              <a:t> variable</a:t>
            </a:r>
            <a:endParaRPr lang="en-CA" sz="4800" dirty="0"/>
          </a:p>
        </p:txBody>
      </p:sp>
      <p:cxnSp>
        <p:nvCxnSpPr>
          <p:cNvPr id="290" name="Straight Arrow Connector 255"/>
          <p:cNvCxnSpPr>
            <a:stCxn id="266" idx="2"/>
          </p:cNvCxnSpPr>
          <p:nvPr/>
        </p:nvCxnSpPr>
        <p:spPr>
          <a:xfrm rot="16200000" flipH="1">
            <a:off x="32859629" y="15288370"/>
            <a:ext cx="1567745" cy="5104676"/>
          </a:xfrm>
          <a:prstGeom prst="curvedConnector2">
            <a:avLst/>
          </a:prstGeom>
          <a:ln w="76200" cap="flat" cmpd="sng" algn="ctr">
            <a:solidFill>
              <a:srgbClr val="73DCDF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3" name="Straight Arrow Connector 255"/>
          <p:cNvCxnSpPr>
            <a:stCxn id="266" idx="2"/>
          </p:cNvCxnSpPr>
          <p:nvPr/>
        </p:nvCxnSpPr>
        <p:spPr>
          <a:xfrm rot="16200000" flipH="1">
            <a:off x="33156426" y="14991573"/>
            <a:ext cx="977726" cy="5108252"/>
          </a:xfrm>
          <a:prstGeom prst="curvedConnector2">
            <a:avLst/>
          </a:prstGeom>
          <a:ln w="76200" cap="flat" cmpd="sng" algn="ctr">
            <a:solidFill>
              <a:srgbClr val="73DCDF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6" name="Straight Arrow Connector 255"/>
          <p:cNvCxnSpPr>
            <a:stCxn id="287" idx="2"/>
            <a:endCxn id="183" idx="3"/>
          </p:cNvCxnSpPr>
          <p:nvPr/>
        </p:nvCxnSpPr>
        <p:spPr>
          <a:xfrm rot="5400000" flipH="1">
            <a:off x="33206568" y="13758115"/>
            <a:ext cx="393344" cy="11373319"/>
          </a:xfrm>
          <a:prstGeom prst="curvedConnector4">
            <a:avLst>
              <a:gd name="adj1" fmla="val -58117"/>
              <a:gd name="adj2" fmla="val 62658"/>
            </a:avLst>
          </a:prstGeom>
          <a:ln w="76200" cap="flat" cmpd="sng" algn="ctr">
            <a:solidFill>
              <a:srgbClr val="73DCDF">
                <a:alpha val="50000"/>
              </a:srgbClr>
            </a:solidFill>
            <a:prstDash val="lgDash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0" name="Straight Arrow Connector 255"/>
          <p:cNvCxnSpPr>
            <a:stCxn id="266" idx="2"/>
          </p:cNvCxnSpPr>
          <p:nvPr/>
        </p:nvCxnSpPr>
        <p:spPr>
          <a:xfrm rot="16200000" flipH="1">
            <a:off x="33485118" y="14662881"/>
            <a:ext cx="316764" cy="5104674"/>
          </a:xfrm>
          <a:prstGeom prst="curvedConnector2">
            <a:avLst/>
          </a:prstGeom>
          <a:ln w="76200" cap="flat" cmpd="sng" algn="ctr">
            <a:solidFill>
              <a:srgbClr val="73DCDF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6" name="Content Placeholder 2"/>
          <p:cNvSpPr txBox="1">
            <a:spLocks/>
          </p:cNvSpPr>
          <p:nvPr/>
        </p:nvSpPr>
        <p:spPr>
          <a:xfrm>
            <a:off x="1636694" y="16896457"/>
            <a:ext cx="4159320" cy="1247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097280" indent="-1097280" algn="l" defTabSz="4389120" rtl="0" eaLnBrk="1" latinLnBrk="0" hangingPunct="1">
              <a:lnSpc>
                <a:spcPct val="90000"/>
              </a:lnSpc>
              <a:spcBef>
                <a:spcPts val="4800"/>
              </a:spcBef>
              <a:buFont typeface="Arial" panose="020B0604020202020204" pitchFamily="34" charset="0"/>
              <a:buChar char="•"/>
              <a:defRPr sz="13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918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11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9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52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92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7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6600" b="1" dirty="0" smtClean="0">
                <a:ln w="0"/>
                <a:solidFill>
                  <a:srgbClr val="1F4E79"/>
                </a:solidFill>
                <a:effectLst>
                  <a:reflection blurRad="6350" stA="53000" endA="300" endPos="35500" dir="5400000" sy="-90000" algn="bl" rotWithShape="0"/>
                </a:effectLst>
              </a:rPr>
              <a:t>Discussion</a:t>
            </a:r>
            <a:endParaRPr lang="en-CA" sz="9600" b="1" dirty="0">
              <a:ln w="0"/>
              <a:solidFill>
                <a:srgbClr val="1F4E79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cxnSp>
        <p:nvCxnSpPr>
          <p:cNvPr id="379" name="Straight Arrow Connector 192"/>
          <p:cNvCxnSpPr>
            <a:stCxn id="3" idx="3"/>
            <a:endCxn id="181" idx="1"/>
          </p:cNvCxnSpPr>
          <p:nvPr/>
        </p:nvCxnSpPr>
        <p:spPr>
          <a:xfrm>
            <a:off x="6241772" y="4480019"/>
            <a:ext cx="16338343" cy="48468"/>
          </a:xfrm>
          <a:prstGeom prst="bentConnector3">
            <a:avLst>
              <a:gd name="adj1" fmla="val 50000"/>
            </a:avLst>
          </a:prstGeom>
          <a:ln w="76200" cap="flat" cmpd="sng" algn="ctr">
            <a:solidFill>
              <a:srgbClr val="A9D18E"/>
            </a:solidFill>
            <a:prstDash val="dashDot"/>
            <a:round/>
            <a:headEnd type="none" w="med" len="med"/>
            <a:tailEnd type="arrow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4" name="Straight Arrow Connector 192"/>
          <p:cNvCxnSpPr>
            <a:stCxn id="183" idx="1"/>
            <a:endCxn id="346" idx="3"/>
          </p:cNvCxnSpPr>
          <p:nvPr/>
        </p:nvCxnSpPr>
        <p:spPr>
          <a:xfrm rot="10800000">
            <a:off x="5796015" y="17519980"/>
            <a:ext cx="19120361" cy="1728122"/>
          </a:xfrm>
          <a:prstGeom prst="bentConnector3">
            <a:avLst>
              <a:gd name="adj1" fmla="val 50000"/>
            </a:avLst>
          </a:prstGeom>
          <a:ln w="76200" cap="flat" cmpd="sng" algn="ctr">
            <a:solidFill>
              <a:srgbClr val="1F4E79">
                <a:alpha val="50000"/>
              </a:srgbClr>
            </a:solidFill>
            <a:prstDash val="dashDot"/>
            <a:round/>
            <a:headEnd type="none" w="med" len="med"/>
            <a:tailEnd type="arrow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1" name="TextBox 410"/>
          <p:cNvSpPr txBox="1"/>
          <p:nvPr/>
        </p:nvSpPr>
        <p:spPr>
          <a:xfrm>
            <a:off x="1265761" y="18326982"/>
            <a:ext cx="11904768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indent="-1371600">
              <a:buFont typeface="Arial" panose="020B0604020202020204" pitchFamily="34" charset="0"/>
              <a:buChar char="•"/>
            </a:pPr>
            <a:r>
              <a:rPr lang="en-US" sz="4400" b="1" dirty="0" smtClean="0"/>
              <a:t>Wide distribution after simulated WGD </a:t>
            </a:r>
            <a:r>
              <a:rPr lang="en-US" sz="4400" dirty="0" smtClean="0"/>
              <a:t>indicates high </a:t>
            </a:r>
            <a:r>
              <a:rPr lang="en-US" sz="4400" dirty="0" err="1" smtClean="0"/>
              <a:t>missegregation</a:t>
            </a:r>
            <a:r>
              <a:rPr lang="en-US" sz="4400" dirty="0" smtClean="0"/>
              <a:t> rate, differing from original population.</a:t>
            </a:r>
          </a:p>
          <a:p>
            <a:pPr marL="1371600" indent="-1371600">
              <a:buFont typeface="Arial" panose="020B0604020202020204" pitchFamily="34" charset="0"/>
              <a:buChar char="•"/>
            </a:pPr>
            <a:endParaRPr lang="en-US" sz="4400" dirty="0"/>
          </a:p>
          <a:p>
            <a:pPr marL="1371600" indent="-1371600">
              <a:buFont typeface="Arial" panose="020B0604020202020204" pitchFamily="34" charset="0"/>
              <a:buChar char="•"/>
            </a:pPr>
            <a:r>
              <a:rPr lang="en-US" sz="4400" b="1" dirty="0" smtClean="0"/>
              <a:t>Two strategies: </a:t>
            </a:r>
            <a:r>
              <a:rPr lang="en-US" sz="4400" dirty="0" smtClean="0"/>
              <a:t>Conserve starting chromosome number with low variance, or pursue new options with high variance.</a:t>
            </a:r>
            <a:endParaRPr lang="en-US" sz="4400" dirty="0"/>
          </a:p>
          <a:p>
            <a:pPr marL="1371600" indent="-1371600">
              <a:buFont typeface="Arial" panose="020B0604020202020204" pitchFamily="34" charset="0"/>
              <a:buChar char="•"/>
            </a:pPr>
            <a:endParaRPr lang="en-US" sz="4400" dirty="0" smtClean="0"/>
          </a:p>
          <a:p>
            <a:pPr marL="1371600" indent="-1371600">
              <a:buFont typeface="Arial" panose="020B0604020202020204" pitchFamily="34" charset="0"/>
              <a:buChar char="•"/>
            </a:pPr>
            <a:r>
              <a:rPr lang="en-US" sz="4400" b="1" dirty="0" smtClean="0"/>
              <a:t>Further investigation: </a:t>
            </a:r>
            <a:r>
              <a:rPr lang="en-US" sz="4400" dirty="0" smtClean="0"/>
              <a:t>Pathology link, other cancer types, poly-populations?</a:t>
            </a:r>
            <a:endParaRPr lang="en-US" sz="4400" dirty="0"/>
          </a:p>
          <a:p>
            <a:pPr marL="1371600" indent="-1371600">
              <a:buFont typeface="Arial" panose="020B0604020202020204" pitchFamily="34" charset="0"/>
              <a:buChar char="•"/>
            </a:pPr>
            <a:endParaRPr lang="en-US" sz="4000" dirty="0"/>
          </a:p>
        </p:txBody>
      </p:sp>
      <p:sp>
        <p:nvSpPr>
          <p:cNvPr id="420" name="Content Placeholder 2"/>
          <p:cNvSpPr txBox="1">
            <a:spLocks/>
          </p:cNvSpPr>
          <p:nvPr/>
        </p:nvSpPr>
        <p:spPr>
          <a:xfrm>
            <a:off x="1934868" y="25444330"/>
            <a:ext cx="4159320" cy="1247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097280" indent="-1097280" algn="l" defTabSz="4389120" rtl="0" eaLnBrk="1" latinLnBrk="0" hangingPunct="1">
              <a:lnSpc>
                <a:spcPct val="90000"/>
              </a:lnSpc>
              <a:spcBef>
                <a:spcPts val="4800"/>
              </a:spcBef>
              <a:buFont typeface="Arial" panose="020B0604020202020204" pitchFamily="34" charset="0"/>
              <a:buChar char="•"/>
              <a:defRPr sz="13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918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11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9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52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92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7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6600" b="1" dirty="0" smtClean="0">
                <a:ln w="0"/>
                <a:effectLst>
                  <a:reflection blurRad="6350" stA="53000" endA="300" endPos="35500" dir="5400000" sy="-90000" algn="bl" rotWithShape="0"/>
                </a:effectLst>
              </a:rPr>
              <a:t>References</a:t>
            </a:r>
            <a:endParaRPr lang="en-CA" sz="9600" b="1" dirty="0">
              <a:ln w="0"/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421" name="TextBox 420"/>
          <p:cNvSpPr txBox="1"/>
          <p:nvPr/>
        </p:nvSpPr>
        <p:spPr>
          <a:xfrm>
            <a:off x="954157" y="26643788"/>
            <a:ext cx="1530376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CA" sz="1400" dirty="0" err="1"/>
              <a:t>A’Hern</a:t>
            </a:r>
            <a:r>
              <a:rPr lang="en-CA" sz="1400" dirty="0"/>
              <a:t>, R. P., Jamal-</a:t>
            </a:r>
            <a:r>
              <a:rPr lang="en-CA" sz="1400" dirty="0" err="1"/>
              <a:t>Hanjani</a:t>
            </a:r>
            <a:r>
              <a:rPr lang="en-CA" sz="1400" dirty="0"/>
              <a:t>, M., </a:t>
            </a:r>
            <a:r>
              <a:rPr lang="en-CA" sz="1400" dirty="0" err="1"/>
              <a:t>Szász</a:t>
            </a:r>
            <a:r>
              <a:rPr lang="en-CA" sz="1400" dirty="0"/>
              <a:t>, A. M., Johnston, S. R. D., Reis-</a:t>
            </a:r>
            <a:r>
              <a:rPr lang="en-CA" sz="1400" dirty="0" err="1"/>
              <a:t>Filho</a:t>
            </a:r>
            <a:r>
              <a:rPr lang="en-CA" sz="1400" dirty="0"/>
              <a:t>, J. S., </a:t>
            </a:r>
            <a:r>
              <a:rPr lang="en-CA" sz="1400" dirty="0" err="1"/>
              <a:t>Roylance</a:t>
            </a:r>
            <a:r>
              <a:rPr lang="en-CA" sz="1400" dirty="0"/>
              <a:t>, R., &amp; Swanton, C. (2013). </a:t>
            </a:r>
            <a:r>
              <a:rPr lang="en-CA" sz="1400" dirty="0" err="1"/>
              <a:t>Taxane</a:t>
            </a:r>
            <a:r>
              <a:rPr lang="en-CA" sz="1400" dirty="0"/>
              <a:t> benefit in breast cancer—A role for grade and chromosomal stability. </a:t>
            </a:r>
            <a:r>
              <a:rPr lang="en-CA" sz="1400" i="1" dirty="0"/>
              <a:t>Nature Reviews Clinical Oncology</a:t>
            </a:r>
            <a:r>
              <a:rPr lang="en-CA" sz="1400" dirty="0"/>
              <a:t>, </a:t>
            </a:r>
            <a:r>
              <a:rPr lang="en-CA" sz="1400" i="1" dirty="0"/>
              <a:t>10</a:t>
            </a:r>
            <a:r>
              <a:rPr lang="en-CA" sz="1400" dirty="0"/>
              <a:t>(6), 357–364. </a:t>
            </a:r>
            <a:r>
              <a:rPr lang="en-CA" sz="1400" dirty="0">
                <a:hlinkClick r:id="rId5"/>
              </a:rPr>
              <a:t>https://doi.org/10.1038/nrclinonc.2013.67</a:t>
            </a:r>
            <a:endParaRPr lang="en-CA" sz="1400" dirty="0"/>
          </a:p>
          <a:p>
            <a:pPr marL="514350" indent="-514350">
              <a:buFont typeface="+mj-lt"/>
              <a:buAutoNum type="arabicPeriod"/>
            </a:pPr>
            <a:r>
              <a:rPr lang="en-US" sz="1400" dirty="0" err="1"/>
              <a:t>Storchova</a:t>
            </a:r>
            <a:r>
              <a:rPr lang="en-US" sz="1400" dirty="0"/>
              <a:t>, Z., &amp; </a:t>
            </a:r>
            <a:r>
              <a:rPr lang="en-US" sz="1400" dirty="0" err="1"/>
              <a:t>Kuffer</a:t>
            </a:r>
            <a:r>
              <a:rPr lang="en-US" sz="1400" dirty="0"/>
              <a:t>, C. (2008). The consequences of </a:t>
            </a:r>
            <a:r>
              <a:rPr lang="en-US" sz="1400" dirty="0" err="1"/>
              <a:t>tetraploidy</a:t>
            </a:r>
            <a:r>
              <a:rPr lang="en-US" sz="1400" dirty="0"/>
              <a:t> and aneuploidy. </a:t>
            </a:r>
            <a:r>
              <a:rPr lang="en-US" sz="1400" i="1" dirty="0"/>
              <a:t>Journal of Cell Science</a:t>
            </a:r>
            <a:r>
              <a:rPr lang="en-US" sz="1400" dirty="0"/>
              <a:t>, </a:t>
            </a:r>
            <a:r>
              <a:rPr lang="en-US" sz="1400" i="1" dirty="0"/>
              <a:t>121</a:t>
            </a:r>
            <a:r>
              <a:rPr lang="en-US" sz="1400" dirty="0"/>
              <a:t>(23), 3859–3866. </a:t>
            </a:r>
            <a:r>
              <a:rPr lang="en-US" sz="1400" dirty="0">
                <a:hlinkClick r:id="rId6"/>
              </a:rPr>
              <a:t>https://doi.org/10.1242/jcs.039537</a:t>
            </a:r>
            <a:endParaRPr lang="en-US" sz="1400" dirty="0"/>
          </a:p>
          <a:p>
            <a:pPr marL="514350" indent="-514350">
              <a:buFont typeface="+mj-lt"/>
              <a:buAutoNum type="arabicPeriod"/>
            </a:pPr>
            <a:r>
              <a:rPr lang="en-US" sz="1400" dirty="0" smtClean="0"/>
              <a:t>Vittoria</a:t>
            </a:r>
            <a:r>
              <a:rPr lang="en-US" sz="1400" dirty="0"/>
              <a:t>, M. A., Quinton, R. J., &amp; </a:t>
            </a:r>
            <a:r>
              <a:rPr lang="en-US" sz="1400" dirty="0" err="1"/>
              <a:t>Ganem</a:t>
            </a:r>
            <a:r>
              <a:rPr lang="en-US" sz="1400" dirty="0"/>
              <a:t>, N. J. (2023). Whole-genome doubling in tissues and tumors. </a:t>
            </a:r>
            <a:r>
              <a:rPr lang="en-US" sz="1400" i="1" dirty="0"/>
              <a:t>Trends in Genetics</a:t>
            </a:r>
            <a:r>
              <a:rPr lang="en-US" sz="1400" dirty="0"/>
              <a:t>, </a:t>
            </a:r>
            <a:r>
              <a:rPr lang="en-US" sz="1400" i="1" dirty="0"/>
              <a:t>39</a:t>
            </a:r>
            <a:r>
              <a:rPr lang="en-US" sz="1400" dirty="0"/>
              <a:t>(12), 954–967. </a:t>
            </a:r>
            <a:r>
              <a:rPr lang="en-US" sz="1400" dirty="0">
                <a:hlinkClick r:id="rId7"/>
              </a:rPr>
              <a:t>https://doi.org/10.1016/j.tig.2023.08.004</a:t>
            </a:r>
            <a:endParaRPr lang="en-US" sz="1400" dirty="0"/>
          </a:p>
          <a:p>
            <a:pPr marL="514350" indent="-514350">
              <a:buFont typeface="+mj-lt"/>
              <a:buAutoNum type="arabicPeriod"/>
            </a:pPr>
            <a:r>
              <a:rPr lang="en-US" sz="1400" dirty="0"/>
              <a:t>Ghosh, S., Choudhury, D., Ghosh, D., </a:t>
            </a:r>
            <a:r>
              <a:rPr lang="en-US" sz="1400" dirty="0" err="1"/>
              <a:t>Mondal</a:t>
            </a:r>
            <a:r>
              <a:rPr lang="en-US" sz="1400" dirty="0"/>
              <a:t>, M., </a:t>
            </a:r>
            <a:r>
              <a:rPr lang="en-US" sz="1400" dirty="0" err="1"/>
              <a:t>Singha</a:t>
            </a:r>
            <a:r>
              <a:rPr lang="en-US" sz="1400" dirty="0"/>
              <a:t>, D., &amp; </a:t>
            </a:r>
            <a:r>
              <a:rPr lang="en-US" sz="1400" dirty="0" err="1"/>
              <a:t>Malakar</a:t>
            </a:r>
            <a:r>
              <a:rPr lang="en-US" sz="1400" dirty="0"/>
              <a:t>, P. (2024). Characterization of polyploidy in cancer: Current status and future perspectives. </a:t>
            </a:r>
            <a:r>
              <a:rPr lang="en-US" sz="1400" i="1" dirty="0"/>
              <a:t>International Journal of Biological Macromolecules</a:t>
            </a:r>
            <a:r>
              <a:rPr lang="en-US" sz="1400" dirty="0"/>
              <a:t>, </a:t>
            </a:r>
            <a:r>
              <a:rPr lang="en-US" sz="1400" i="1" dirty="0"/>
              <a:t>268</a:t>
            </a:r>
            <a:r>
              <a:rPr lang="en-US" sz="1400" dirty="0"/>
              <a:t>, 131706. </a:t>
            </a:r>
            <a:r>
              <a:rPr lang="en-US" sz="1400" dirty="0">
                <a:hlinkClick r:id="rId8"/>
              </a:rPr>
              <a:t>https://doi.org/10.1016/j.ijbiomac.2024.131706</a:t>
            </a:r>
            <a:endParaRPr lang="en-US" sz="1400" dirty="0"/>
          </a:p>
          <a:p>
            <a:pPr marL="514350" indent="-514350">
              <a:buFont typeface="+mj-lt"/>
              <a:buAutoNum type="arabicPeriod"/>
            </a:pPr>
            <a:r>
              <a:rPr lang="en-US" sz="1400" dirty="0" err="1"/>
              <a:t>Somarelli</a:t>
            </a:r>
            <a:r>
              <a:rPr lang="en-US" sz="1400" dirty="0"/>
              <a:t>, J. A., &amp; Johnson, N. A. (2024). </a:t>
            </a:r>
            <a:r>
              <a:rPr lang="en-US" sz="1400" i="1" dirty="0"/>
              <a:t>Cancer through the Lens of Evolution and Ecology</a:t>
            </a:r>
            <a:r>
              <a:rPr lang="en-US" sz="1400" dirty="0"/>
              <a:t> (1st ed.). CRC Press. </a:t>
            </a:r>
            <a:r>
              <a:rPr lang="en-US" sz="1400" dirty="0">
                <a:hlinkClick r:id="rId9"/>
              </a:rPr>
              <a:t>https://doi.org/10.1201/9781003307921</a:t>
            </a:r>
            <a:endParaRPr lang="en-US" sz="1400" dirty="0"/>
          </a:p>
          <a:p>
            <a:pPr marL="514350" indent="-514350">
              <a:buFont typeface="+mj-lt"/>
              <a:buAutoNum type="arabicPeriod"/>
            </a:pPr>
            <a:r>
              <a:rPr lang="en-CA" sz="1400" dirty="0" err="1"/>
              <a:t>Haughey</a:t>
            </a:r>
            <a:r>
              <a:rPr lang="en-CA" sz="1400" dirty="0"/>
              <a:t>, M. J., </a:t>
            </a:r>
            <a:r>
              <a:rPr lang="en-CA" sz="1400" dirty="0" err="1"/>
              <a:t>Bassolas</a:t>
            </a:r>
            <a:r>
              <a:rPr lang="en-CA" sz="1400" dirty="0"/>
              <a:t>, A., Sousa, S., Baker, A.-M., Graham, T. A., Nicosia, V., &amp; Huang, W. (2023). First passage time analysis of spatial mutation patterns reveals sub-clonal evolutionary dynamics in colorectal cancer. </a:t>
            </a:r>
            <a:r>
              <a:rPr lang="en-CA" sz="1400" i="1" dirty="0"/>
              <a:t>PLOS Computational Biology</a:t>
            </a:r>
            <a:r>
              <a:rPr lang="en-CA" sz="1400" dirty="0"/>
              <a:t>, </a:t>
            </a:r>
            <a:r>
              <a:rPr lang="en-CA" sz="1400" i="1" dirty="0"/>
              <a:t>19</a:t>
            </a:r>
            <a:r>
              <a:rPr lang="en-CA" sz="1400" dirty="0"/>
              <a:t>(3), e1010952. </a:t>
            </a:r>
            <a:r>
              <a:rPr lang="en-CA" sz="1400" dirty="0">
                <a:hlinkClick r:id="rId10"/>
              </a:rPr>
              <a:t>https://doi.org/10.1371/journal.pcbi.1010952</a:t>
            </a:r>
            <a:endParaRPr lang="en-CA" sz="1400" dirty="0"/>
          </a:p>
          <a:p>
            <a:pPr marL="514350" indent="-514350">
              <a:buFont typeface="+mj-lt"/>
              <a:buAutoNum type="arabicPeriod"/>
            </a:pPr>
            <a:r>
              <a:rPr lang="en-CA" sz="1400" dirty="0"/>
              <a:t>Wickham H, François R, Henry L, Müller K, Vaughan D (2026). </a:t>
            </a:r>
            <a:r>
              <a:rPr lang="en-CA" sz="1400" i="1" dirty="0" err="1"/>
              <a:t>dplyr</a:t>
            </a:r>
            <a:r>
              <a:rPr lang="en-CA" sz="1400" i="1" dirty="0"/>
              <a:t>: A Grammar of Data Manipulation</a:t>
            </a:r>
            <a:r>
              <a:rPr lang="en-CA" sz="1400" dirty="0"/>
              <a:t>. R package version 1.2.1, </a:t>
            </a:r>
            <a:r>
              <a:rPr lang="en-CA" sz="1400" dirty="0">
                <a:hlinkClick r:id="rId11"/>
              </a:rPr>
              <a:t>https://dplyr.tidyverse.org</a:t>
            </a:r>
            <a:endParaRPr lang="en-CA" sz="1400" dirty="0"/>
          </a:p>
          <a:p>
            <a:pPr marL="514350" indent="-514350">
              <a:buFont typeface="+mj-lt"/>
              <a:buAutoNum type="arabicPeriod"/>
            </a:pPr>
            <a:r>
              <a:rPr lang="en-CA" sz="1400" dirty="0"/>
              <a:t>Wickham H, Vaughan D, </a:t>
            </a:r>
            <a:r>
              <a:rPr lang="en-CA" sz="1400" dirty="0" err="1"/>
              <a:t>Girlich</a:t>
            </a:r>
            <a:r>
              <a:rPr lang="en-CA" sz="1400" dirty="0"/>
              <a:t> M (2026). </a:t>
            </a:r>
            <a:r>
              <a:rPr lang="en-CA" sz="1400" i="1" dirty="0" err="1"/>
              <a:t>tidyr</a:t>
            </a:r>
            <a:r>
              <a:rPr lang="en-CA" sz="1400" i="1" dirty="0"/>
              <a:t>: Tidy Messy Data</a:t>
            </a:r>
            <a:r>
              <a:rPr lang="en-CA" sz="1400" dirty="0"/>
              <a:t>. R package version 1.3.2, </a:t>
            </a:r>
            <a:r>
              <a:rPr lang="en-CA" sz="1400" dirty="0">
                <a:hlinkClick r:id="rId12"/>
              </a:rPr>
              <a:t>https://tidyr.tidyverse.org</a:t>
            </a:r>
            <a:endParaRPr lang="en-CA" sz="1400" dirty="0"/>
          </a:p>
          <a:p>
            <a:pPr marL="514350" indent="-514350">
              <a:buFont typeface="+mj-lt"/>
              <a:buAutoNum type="arabicPeriod"/>
            </a:pPr>
            <a:r>
              <a:rPr lang="en-CA" sz="1400" dirty="0"/>
              <a:t>Wickham H (2025). </a:t>
            </a:r>
            <a:r>
              <a:rPr lang="en-CA" sz="1400" i="1" dirty="0" err="1"/>
              <a:t>stringr</a:t>
            </a:r>
            <a:r>
              <a:rPr lang="en-CA" sz="1400" i="1" dirty="0"/>
              <a:t>: Simple, Consistent Wrappers for Common String Operations</a:t>
            </a:r>
            <a:r>
              <a:rPr lang="en-CA" sz="1400" dirty="0"/>
              <a:t>. R package version 1.6.0, </a:t>
            </a:r>
            <a:r>
              <a:rPr lang="en-CA" sz="1400" dirty="0">
                <a:hlinkClick r:id="rId13"/>
              </a:rPr>
              <a:t>https://stringr.tidyverse.org</a:t>
            </a:r>
            <a:endParaRPr lang="en-CA" sz="1400" dirty="0"/>
          </a:p>
          <a:p>
            <a:pPr marL="514350" indent="-514350">
              <a:buFont typeface="+mj-lt"/>
              <a:buAutoNum type="arabicPeriod"/>
            </a:pPr>
            <a:r>
              <a:rPr lang="en-CA" sz="1400" dirty="0"/>
              <a:t>Wickham H (2016). </a:t>
            </a:r>
            <a:r>
              <a:rPr lang="en-CA" sz="1400" i="1" dirty="0"/>
              <a:t>ggplot2: Elegant Graphics for Data Analysis</a:t>
            </a:r>
            <a:r>
              <a:rPr lang="en-CA" sz="1400" dirty="0"/>
              <a:t>. Springer-</a:t>
            </a:r>
            <a:r>
              <a:rPr lang="en-CA" sz="1400" dirty="0" err="1"/>
              <a:t>Verlag</a:t>
            </a:r>
            <a:r>
              <a:rPr lang="en-CA" sz="1400" dirty="0"/>
              <a:t> New York. ISBN 978-3-319-24277-4. </a:t>
            </a:r>
            <a:r>
              <a:rPr lang="en-CA" sz="1400" dirty="0">
                <a:hlinkClick r:id="rId14"/>
              </a:rPr>
              <a:t>https://ggplot2.tidyverse.org</a:t>
            </a:r>
            <a:endParaRPr lang="en-CA" sz="1400" dirty="0"/>
          </a:p>
          <a:p>
            <a:pPr marL="514350" indent="-514350">
              <a:buFont typeface="+mj-lt"/>
              <a:buAutoNum type="arabicPeriod"/>
            </a:pPr>
            <a:r>
              <a:rPr lang="en-US" sz="1400" dirty="0" err="1"/>
              <a:t>Øksendal</a:t>
            </a:r>
            <a:r>
              <a:rPr lang="en-US" sz="1400" dirty="0"/>
              <a:t>, B. K. (2005). </a:t>
            </a:r>
            <a:r>
              <a:rPr lang="en-US" sz="1400" i="1" dirty="0"/>
              <a:t>Stochastic differential equations: An introduction with applications</a:t>
            </a:r>
            <a:r>
              <a:rPr lang="en-US" sz="1400" dirty="0"/>
              <a:t> (6th ed., corrected third printing 2005). Springer.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dirty="0" err="1"/>
              <a:t>Dekking</a:t>
            </a:r>
            <a:r>
              <a:rPr lang="en-US" sz="1400" dirty="0"/>
              <a:t>, M., </a:t>
            </a:r>
            <a:r>
              <a:rPr lang="en-US" sz="1400" dirty="0" err="1"/>
              <a:t>Kraaikamp</a:t>
            </a:r>
            <a:r>
              <a:rPr lang="en-US" sz="1400" dirty="0"/>
              <a:t>, C., </a:t>
            </a:r>
            <a:r>
              <a:rPr lang="en-US" sz="1400" dirty="0" err="1"/>
              <a:t>Lopuhaä</a:t>
            </a:r>
            <a:r>
              <a:rPr lang="en-US" sz="1400" dirty="0"/>
              <a:t>, H. P., &amp; </a:t>
            </a:r>
            <a:r>
              <a:rPr lang="en-US" sz="1400" dirty="0" err="1"/>
              <a:t>Meester</a:t>
            </a:r>
            <a:r>
              <a:rPr lang="en-US" sz="1400" dirty="0"/>
              <a:t>, L. E. (Eds.). (2005). </a:t>
            </a:r>
            <a:r>
              <a:rPr lang="en-US" sz="1400" i="1" dirty="0"/>
              <a:t>A Modern Introduction to Probability and Statistics: Understanding Why and How</a:t>
            </a:r>
            <a:r>
              <a:rPr lang="en-US" sz="1400" dirty="0"/>
              <a:t>. Springer London. </a:t>
            </a:r>
            <a:r>
              <a:rPr lang="en-US" sz="1400" dirty="0">
                <a:hlinkClick r:id="rId15"/>
              </a:rPr>
              <a:t>https://doi.org/10.1007/1-84628-168-7</a:t>
            </a:r>
            <a:endParaRPr lang="en-US" sz="1400" dirty="0"/>
          </a:p>
          <a:p>
            <a:pPr marL="514350" indent="-514350">
              <a:buFont typeface="+mj-lt"/>
              <a:buAutoNum type="arabicPeriod"/>
            </a:pPr>
            <a:r>
              <a:rPr lang="en-CA" sz="1400" dirty="0" err="1"/>
              <a:t>Mitelman</a:t>
            </a:r>
            <a:r>
              <a:rPr lang="en-CA" sz="1400" dirty="0"/>
              <a:t> Database of Chromosome Aberrations and Gene Fusions in Cancer (2026). </a:t>
            </a:r>
            <a:r>
              <a:rPr lang="en-CA" sz="1400" dirty="0" err="1"/>
              <a:t>Mitelman</a:t>
            </a:r>
            <a:r>
              <a:rPr lang="en-CA" sz="1400" dirty="0"/>
              <a:t> F, Johansson B, </a:t>
            </a:r>
            <a:r>
              <a:rPr lang="en-CA" sz="1400" dirty="0" err="1"/>
              <a:t>Mertens</a:t>
            </a:r>
            <a:r>
              <a:rPr lang="en-CA" sz="1400" dirty="0"/>
              <a:t> F and </a:t>
            </a:r>
            <a:r>
              <a:rPr lang="en-CA" sz="1400" dirty="0" err="1"/>
              <a:t>Paulsson</a:t>
            </a:r>
            <a:r>
              <a:rPr lang="en-CA" sz="1400" dirty="0"/>
              <a:t> K (Eds.), </a:t>
            </a:r>
            <a:r>
              <a:rPr lang="en-CA" sz="1400" dirty="0">
                <a:hlinkClick r:id="rId16"/>
              </a:rPr>
              <a:t>https://mitelmandatabase.isb-cgc.org</a:t>
            </a:r>
            <a:endParaRPr lang="en-CA" sz="1400" dirty="0"/>
          </a:p>
          <a:p>
            <a:pPr marL="514350" indent="-514350">
              <a:buFont typeface="+mj-lt"/>
              <a:buAutoNum type="arabicPeriod"/>
            </a:pPr>
            <a:r>
              <a:rPr lang="en-US" sz="1400" dirty="0"/>
              <a:t>Wang, J., &amp; </a:t>
            </a:r>
            <a:r>
              <a:rPr lang="en-US" sz="1400" dirty="0" err="1"/>
              <a:t>LaFramboise</a:t>
            </a:r>
            <a:r>
              <a:rPr lang="en-US" sz="1400" dirty="0"/>
              <a:t>, T. (2019). </a:t>
            </a:r>
            <a:r>
              <a:rPr lang="en-US" sz="1400" dirty="0" err="1"/>
              <a:t>CytoConverter</a:t>
            </a:r>
            <a:r>
              <a:rPr lang="en-US" sz="1400" dirty="0"/>
              <a:t>: A web-based tool to convert karyotypes to genomic coordinates. </a:t>
            </a:r>
            <a:r>
              <a:rPr lang="en-US" sz="1400" i="1" dirty="0"/>
              <a:t>BMC Bioinformatics</a:t>
            </a:r>
            <a:r>
              <a:rPr lang="en-US" sz="1400" dirty="0"/>
              <a:t>, </a:t>
            </a:r>
            <a:r>
              <a:rPr lang="en-US" sz="1400" i="1" dirty="0"/>
              <a:t>20</a:t>
            </a:r>
            <a:r>
              <a:rPr lang="en-US" sz="1400" dirty="0"/>
              <a:t>(1), 467. </a:t>
            </a:r>
            <a:r>
              <a:rPr lang="en-US" sz="1400" dirty="0">
                <a:hlinkClick r:id="rId17"/>
              </a:rPr>
              <a:t>https://doi.org/10.1186/s12859-019-3062-4</a:t>
            </a:r>
            <a:endParaRPr lang="en-US" sz="1400" dirty="0"/>
          </a:p>
          <a:p>
            <a:pPr marL="514350" indent="-514350">
              <a:buFont typeface="+mj-lt"/>
              <a:buAutoNum type="arabicPeriod"/>
            </a:pPr>
            <a:r>
              <a:rPr lang="en-US" sz="1400" dirty="0" err="1"/>
              <a:t>Krupina</a:t>
            </a:r>
            <a:r>
              <a:rPr lang="en-US" sz="1400" dirty="0"/>
              <a:t>, K., </a:t>
            </a:r>
            <a:r>
              <a:rPr lang="en-US" sz="1400" dirty="0" err="1"/>
              <a:t>Goginashvili</a:t>
            </a:r>
            <a:r>
              <a:rPr lang="en-US" sz="1400" dirty="0"/>
              <a:t>, A., &amp; Cleveland, D. W. (2024). Scrambling the genome in cancer: Causes and consequences of complex chromosome rearrangements. </a:t>
            </a:r>
            <a:r>
              <a:rPr lang="en-US" sz="1400" i="1" dirty="0"/>
              <a:t>Nature Reviews Genetics</a:t>
            </a:r>
            <a:r>
              <a:rPr lang="en-US" sz="1400" dirty="0"/>
              <a:t>, </a:t>
            </a:r>
            <a:r>
              <a:rPr lang="en-US" sz="1400" i="1" dirty="0"/>
              <a:t>25</a:t>
            </a:r>
            <a:r>
              <a:rPr lang="en-US" sz="1400" dirty="0"/>
              <a:t>(3), 196–210. </a:t>
            </a:r>
            <a:r>
              <a:rPr lang="en-US" sz="1400" dirty="0">
                <a:hlinkClick r:id="rId18"/>
              </a:rPr>
              <a:t>https://doi.org/10.1038/s41576-023-00663-0</a:t>
            </a:r>
            <a:endParaRPr lang="en-US" sz="1400" dirty="0"/>
          </a:p>
          <a:p>
            <a:pPr marL="514350" indent="-514350">
              <a:buFont typeface="+mj-lt"/>
              <a:buAutoNum type="arabicPeriod"/>
            </a:pPr>
            <a:r>
              <a:rPr lang="en-CA" sz="1400" dirty="0"/>
              <a:t>Cross, W. C. H., </a:t>
            </a:r>
            <a:r>
              <a:rPr lang="en-CA" sz="1400" dirty="0" err="1"/>
              <a:t>Nowinski</a:t>
            </a:r>
            <a:r>
              <a:rPr lang="en-CA" sz="1400" dirty="0"/>
              <a:t>, S., </a:t>
            </a:r>
            <a:r>
              <a:rPr lang="en-CA" sz="1400" dirty="0" err="1"/>
              <a:t>Cresswell</a:t>
            </a:r>
            <a:r>
              <a:rPr lang="en-CA" sz="1400" dirty="0"/>
              <a:t>, G. D., </a:t>
            </a:r>
            <a:r>
              <a:rPr lang="en-CA" sz="1400" dirty="0" err="1"/>
              <a:t>Mossner</a:t>
            </a:r>
            <a:r>
              <a:rPr lang="en-CA" sz="1400" dirty="0"/>
              <a:t>, M., Banerjee, A., Lu, B., Williams, M. J., </a:t>
            </a:r>
            <a:r>
              <a:rPr lang="en-CA" sz="1400" dirty="0" err="1"/>
              <a:t>Vlachogiannis</a:t>
            </a:r>
            <a:r>
              <a:rPr lang="en-CA" sz="1400" dirty="0"/>
              <a:t>, G., Gay, L. J., Baker, A.-M., Kimberley, C., Whiting, F. J. H., </a:t>
            </a:r>
            <a:r>
              <a:rPr lang="en-CA" sz="1400" dirty="0" err="1"/>
              <a:t>Belnoue</a:t>
            </a:r>
            <a:r>
              <a:rPr lang="en-CA" sz="1400" dirty="0"/>
              <a:t>-Davis, H. L., Martinez, P., </a:t>
            </a:r>
            <a:r>
              <a:rPr lang="en-CA" sz="1400" dirty="0" err="1"/>
              <a:t>Traki</a:t>
            </a:r>
            <a:r>
              <a:rPr lang="en-CA" sz="1400" dirty="0"/>
              <a:t>, M., Walther, V., Smith, K., Fernandez-</a:t>
            </a:r>
            <a:r>
              <a:rPr lang="en-CA" sz="1400" dirty="0" err="1"/>
              <a:t>Mateos</a:t>
            </a:r>
            <a:r>
              <a:rPr lang="en-CA" sz="1400" dirty="0"/>
              <a:t>, J., </a:t>
            </a:r>
            <a:r>
              <a:rPr lang="en-CA" sz="1400" dirty="0" err="1"/>
              <a:t>Yara</a:t>
            </a:r>
            <a:r>
              <a:rPr lang="en-CA" sz="1400" dirty="0"/>
              <a:t>-Romero, E., … Graham, T. A. (2026). Negative Selection Maintains Grossly Altered but Broadly Stable Karyotypes in Metastatic Colorectal Cancer. </a:t>
            </a:r>
            <a:r>
              <a:rPr lang="en-CA" sz="1400" i="1" dirty="0"/>
              <a:t>Cancer Discovery</a:t>
            </a:r>
            <a:r>
              <a:rPr lang="en-CA" sz="1400" dirty="0"/>
              <a:t>, </a:t>
            </a:r>
            <a:r>
              <a:rPr lang="en-CA" sz="1400" i="1" dirty="0"/>
              <a:t>16</a:t>
            </a:r>
            <a:r>
              <a:rPr lang="en-CA" sz="1400" dirty="0"/>
              <a:t>(2), 218–234. </a:t>
            </a:r>
            <a:r>
              <a:rPr lang="en-CA" sz="1400" dirty="0">
                <a:hlinkClick r:id="rId19"/>
              </a:rPr>
              <a:t>https://doi.org/10.1158/2159-8290.CD-24-0813</a:t>
            </a:r>
            <a:endParaRPr lang="en-US" sz="1400" dirty="0"/>
          </a:p>
          <a:p>
            <a:pPr marL="514350" indent="-514350">
              <a:buFont typeface="+mj-lt"/>
              <a:buAutoNum type="arabicPeriod"/>
            </a:pPr>
            <a:r>
              <a:rPr lang="en-CA" sz="1400" dirty="0" err="1"/>
              <a:t>Gerges</a:t>
            </a:r>
            <a:r>
              <a:rPr lang="en-CA" sz="1400" dirty="0"/>
              <a:t>, N., </a:t>
            </a:r>
            <a:r>
              <a:rPr lang="en-CA" sz="1400" dirty="0" err="1"/>
              <a:t>Fontebasso</a:t>
            </a:r>
            <a:r>
              <a:rPr lang="en-CA" sz="1400" dirty="0"/>
              <a:t>, A. M., Albrecht, S., </a:t>
            </a:r>
            <a:r>
              <a:rPr lang="en-CA" sz="1400" dirty="0" err="1"/>
              <a:t>Faury</a:t>
            </a:r>
            <a:r>
              <a:rPr lang="en-CA" sz="1400" dirty="0"/>
              <a:t>, D., &amp; </a:t>
            </a:r>
            <a:r>
              <a:rPr lang="en-CA" sz="1400" dirty="0" err="1"/>
              <a:t>Jabado</a:t>
            </a:r>
            <a:r>
              <a:rPr lang="en-CA" sz="1400" dirty="0"/>
              <a:t>, N. (2013). Pediatric high-grade </a:t>
            </a:r>
            <a:r>
              <a:rPr lang="en-CA" sz="1400" dirty="0" err="1"/>
              <a:t>astrocytomas</a:t>
            </a:r>
            <a:r>
              <a:rPr lang="en-CA" sz="1400" dirty="0"/>
              <a:t>: A distinct neuro-oncological paradigm. </a:t>
            </a:r>
            <a:r>
              <a:rPr lang="en-CA" sz="1400" i="1" dirty="0"/>
              <a:t>Genome Medicine</a:t>
            </a:r>
            <a:r>
              <a:rPr lang="en-CA" sz="1400" dirty="0"/>
              <a:t>, </a:t>
            </a:r>
            <a:r>
              <a:rPr lang="en-CA" sz="1400" i="1" dirty="0"/>
              <a:t>5</a:t>
            </a:r>
            <a:r>
              <a:rPr lang="en-CA" sz="1400" dirty="0"/>
              <a:t>(7), 66. </a:t>
            </a:r>
            <a:r>
              <a:rPr lang="en-CA" sz="1400" dirty="0">
                <a:hlinkClick r:id="rId20"/>
              </a:rPr>
              <a:t>https://doi.org/10.1186/gm470</a:t>
            </a:r>
            <a:endParaRPr lang="en-CA" sz="1400" dirty="0"/>
          </a:p>
          <a:p>
            <a:endParaRPr lang="en-CA" sz="1400" dirty="0"/>
          </a:p>
        </p:txBody>
      </p:sp>
      <p:sp>
        <p:nvSpPr>
          <p:cNvPr id="423" name="TextBox 422"/>
          <p:cNvSpPr txBox="1"/>
          <p:nvPr/>
        </p:nvSpPr>
        <p:spPr>
          <a:xfrm>
            <a:off x="4190344" y="2974641"/>
            <a:ext cx="126619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aseline="30000" dirty="0" smtClean="0"/>
              <a:t>1</a:t>
            </a:r>
            <a:r>
              <a:rPr lang="en-US" sz="3600" dirty="0" smtClean="0"/>
              <a:t>University of Guelph, </a:t>
            </a:r>
            <a:r>
              <a:rPr lang="en-US" sz="3600" baseline="30000" dirty="0" smtClean="0"/>
              <a:t>2</a:t>
            </a:r>
            <a:r>
              <a:rPr lang="en-US" sz="3600" dirty="0" smtClean="0"/>
              <a:t>Fractal Therapeutics</a:t>
            </a:r>
            <a:r>
              <a:rPr lang="en-CA" sz="3600" dirty="0" smtClean="0"/>
              <a:t>, </a:t>
            </a:r>
            <a:r>
              <a:rPr lang="en-US" sz="3600" baseline="30000" dirty="0" smtClean="0"/>
              <a:t>3</a:t>
            </a:r>
            <a:r>
              <a:rPr lang="en-US" sz="3600" dirty="0" smtClean="0"/>
              <a:t>Notable Contribution</a:t>
            </a:r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3784603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795</TotalTime>
  <Words>1052</Words>
  <Application>Microsoft Office PowerPoint</Application>
  <PresentationFormat>Custom</PresentationFormat>
  <Paragraphs>69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Modeling CIN Cancer Evolution: A Dual Population Approach for Astrocytoma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CIN Cancer Evolution: A Dual Population Approach</dc:title>
  <dc:creator>Liam</dc:creator>
  <cp:lastModifiedBy>Liam</cp:lastModifiedBy>
  <cp:revision>39</cp:revision>
  <dcterms:created xsi:type="dcterms:W3CDTF">2026-08-05T08:57:31Z</dcterms:created>
  <dcterms:modified xsi:type="dcterms:W3CDTF">2026-08-05T22:13:27Z</dcterms:modified>
</cp:coreProperties>
</file>