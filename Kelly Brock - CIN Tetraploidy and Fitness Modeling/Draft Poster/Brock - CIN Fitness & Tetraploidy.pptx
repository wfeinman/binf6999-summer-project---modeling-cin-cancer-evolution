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47091600" cy="30175200"/>
  <p:notesSz cx="6858000" cy="9144000"/>
  <p:defaultTextStyle>
    <a:defPPr>
      <a:defRPr lang="en-US"/>
    </a:defPPr>
    <a:lvl1pPr marL="0" algn="l" defTabSz="4441332" rtl="0" eaLnBrk="1" latinLnBrk="0" hangingPunct="1">
      <a:defRPr sz="8700" kern="1200">
        <a:solidFill>
          <a:schemeClr val="tx1"/>
        </a:solidFill>
        <a:latin typeface="+mn-lt"/>
        <a:ea typeface="+mn-ea"/>
        <a:cs typeface="+mn-cs"/>
      </a:defRPr>
    </a:lvl1pPr>
    <a:lvl2pPr marL="2220666" algn="l" defTabSz="4441332" rtl="0" eaLnBrk="1" latinLnBrk="0" hangingPunct="1">
      <a:defRPr sz="8700" kern="1200">
        <a:solidFill>
          <a:schemeClr val="tx1"/>
        </a:solidFill>
        <a:latin typeface="+mn-lt"/>
        <a:ea typeface="+mn-ea"/>
        <a:cs typeface="+mn-cs"/>
      </a:defRPr>
    </a:lvl2pPr>
    <a:lvl3pPr marL="4441332" algn="l" defTabSz="4441332" rtl="0" eaLnBrk="1" latinLnBrk="0" hangingPunct="1">
      <a:defRPr sz="8700" kern="1200">
        <a:solidFill>
          <a:schemeClr val="tx1"/>
        </a:solidFill>
        <a:latin typeface="+mn-lt"/>
        <a:ea typeface="+mn-ea"/>
        <a:cs typeface="+mn-cs"/>
      </a:defRPr>
    </a:lvl3pPr>
    <a:lvl4pPr marL="6661998" algn="l" defTabSz="4441332" rtl="0" eaLnBrk="1" latinLnBrk="0" hangingPunct="1">
      <a:defRPr sz="8700" kern="1200">
        <a:solidFill>
          <a:schemeClr val="tx1"/>
        </a:solidFill>
        <a:latin typeface="+mn-lt"/>
        <a:ea typeface="+mn-ea"/>
        <a:cs typeface="+mn-cs"/>
      </a:defRPr>
    </a:lvl4pPr>
    <a:lvl5pPr marL="8882664" algn="l" defTabSz="4441332" rtl="0" eaLnBrk="1" latinLnBrk="0" hangingPunct="1">
      <a:defRPr sz="8700" kern="1200">
        <a:solidFill>
          <a:schemeClr val="tx1"/>
        </a:solidFill>
        <a:latin typeface="+mn-lt"/>
        <a:ea typeface="+mn-ea"/>
        <a:cs typeface="+mn-cs"/>
      </a:defRPr>
    </a:lvl5pPr>
    <a:lvl6pPr marL="11103331" algn="l" defTabSz="4441332" rtl="0" eaLnBrk="1" latinLnBrk="0" hangingPunct="1">
      <a:defRPr sz="8700" kern="1200">
        <a:solidFill>
          <a:schemeClr val="tx1"/>
        </a:solidFill>
        <a:latin typeface="+mn-lt"/>
        <a:ea typeface="+mn-ea"/>
        <a:cs typeface="+mn-cs"/>
      </a:defRPr>
    </a:lvl6pPr>
    <a:lvl7pPr marL="13323997" algn="l" defTabSz="4441332" rtl="0" eaLnBrk="1" latinLnBrk="0" hangingPunct="1">
      <a:defRPr sz="8700" kern="1200">
        <a:solidFill>
          <a:schemeClr val="tx1"/>
        </a:solidFill>
        <a:latin typeface="+mn-lt"/>
        <a:ea typeface="+mn-ea"/>
        <a:cs typeface="+mn-cs"/>
      </a:defRPr>
    </a:lvl7pPr>
    <a:lvl8pPr marL="15544663" algn="l" defTabSz="4441332" rtl="0" eaLnBrk="1" latinLnBrk="0" hangingPunct="1">
      <a:defRPr sz="8700" kern="1200">
        <a:solidFill>
          <a:schemeClr val="tx1"/>
        </a:solidFill>
        <a:latin typeface="+mn-lt"/>
        <a:ea typeface="+mn-ea"/>
        <a:cs typeface="+mn-cs"/>
      </a:defRPr>
    </a:lvl8pPr>
    <a:lvl9pPr marL="17765329" algn="l" defTabSz="4441332" rtl="0" eaLnBrk="1" latinLnBrk="0" hangingPunct="1">
      <a:defRPr sz="8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04">
          <p15:clr>
            <a:srgbClr val="A4A3A4"/>
          </p15:clr>
        </p15:guide>
        <p15:guide id="2" pos="14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28" d="100"/>
          <a:sy n="28" d="100"/>
        </p:scale>
        <p:origin x="2160" y="200"/>
      </p:cViewPr>
      <p:guideLst>
        <p:guide orient="horz" pos="9504"/>
        <p:guide pos="14832"/>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531870" y="9373872"/>
            <a:ext cx="40027860" cy="6468110"/>
          </a:xfrm>
        </p:spPr>
        <p:txBody>
          <a:bodyPr/>
          <a:lstStyle/>
          <a:p>
            <a:r>
              <a:rPr lang="en-US"/>
              <a:t>Click to edit Master title style</a:t>
            </a:r>
          </a:p>
        </p:txBody>
      </p:sp>
      <p:sp>
        <p:nvSpPr>
          <p:cNvPr id="3" name="Subtitle 2"/>
          <p:cNvSpPr>
            <a:spLocks noGrp="1"/>
          </p:cNvSpPr>
          <p:nvPr>
            <p:ph type="subTitle" idx="1"/>
          </p:nvPr>
        </p:nvSpPr>
        <p:spPr>
          <a:xfrm>
            <a:off x="7063740" y="17099280"/>
            <a:ext cx="32964120" cy="7711440"/>
          </a:xfrm>
        </p:spPr>
        <p:txBody>
          <a:bodyPr/>
          <a:lstStyle>
            <a:lvl1pPr marL="0" indent="0" algn="ctr">
              <a:buNone/>
              <a:defRPr>
                <a:solidFill>
                  <a:schemeClr val="tx1">
                    <a:tint val="75000"/>
                  </a:schemeClr>
                </a:solidFill>
              </a:defRPr>
            </a:lvl1pPr>
            <a:lvl2pPr marL="2220666" indent="0" algn="ctr">
              <a:buNone/>
              <a:defRPr>
                <a:solidFill>
                  <a:schemeClr val="tx1">
                    <a:tint val="75000"/>
                  </a:schemeClr>
                </a:solidFill>
              </a:defRPr>
            </a:lvl2pPr>
            <a:lvl3pPr marL="4441332" indent="0" algn="ctr">
              <a:buNone/>
              <a:defRPr>
                <a:solidFill>
                  <a:schemeClr val="tx1">
                    <a:tint val="75000"/>
                  </a:schemeClr>
                </a:solidFill>
              </a:defRPr>
            </a:lvl3pPr>
            <a:lvl4pPr marL="6661998" indent="0" algn="ctr">
              <a:buNone/>
              <a:defRPr>
                <a:solidFill>
                  <a:schemeClr val="tx1">
                    <a:tint val="75000"/>
                  </a:schemeClr>
                </a:solidFill>
              </a:defRPr>
            </a:lvl4pPr>
            <a:lvl5pPr marL="8882664" indent="0" algn="ctr">
              <a:buNone/>
              <a:defRPr>
                <a:solidFill>
                  <a:schemeClr val="tx1">
                    <a:tint val="75000"/>
                  </a:schemeClr>
                </a:solidFill>
              </a:defRPr>
            </a:lvl5pPr>
            <a:lvl6pPr marL="11103331" indent="0" algn="ctr">
              <a:buNone/>
              <a:defRPr>
                <a:solidFill>
                  <a:schemeClr val="tx1">
                    <a:tint val="75000"/>
                  </a:schemeClr>
                </a:solidFill>
              </a:defRPr>
            </a:lvl6pPr>
            <a:lvl7pPr marL="13323997" indent="0" algn="ctr">
              <a:buNone/>
              <a:defRPr>
                <a:solidFill>
                  <a:schemeClr val="tx1">
                    <a:tint val="75000"/>
                  </a:schemeClr>
                </a:solidFill>
              </a:defRPr>
            </a:lvl7pPr>
            <a:lvl8pPr marL="15544663" indent="0" algn="ctr">
              <a:buNone/>
              <a:defRPr>
                <a:solidFill>
                  <a:schemeClr val="tx1">
                    <a:tint val="75000"/>
                  </a:schemeClr>
                </a:solidFill>
              </a:defRPr>
            </a:lvl8pPr>
            <a:lvl9pPr marL="1776532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5D7F6B7-07CC-4E8D-ACF5-2B2142401CA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D7F6B7-07CC-4E8D-ACF5-2B2142401CA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719913" y="19390362"/>
            <a:ext cx="40027860" cy="5993130"/>
          </a:xfrm>
        </p:spPr>
        <p:txBody>
          <a:bodyPr anchor="t"/>
          <a:lstStyle>
            <a:lvl1pPr algn="l">
              <a:defRPr sz="19400" b="1" cap="all"/>
            </a:lvl1pPr>
          </a:lstStyle>
          <a:p>
            <a:r>
              <a:rPr lang="en-US"/>
              <a:t>Click to edit Master title style</a:t>
            </a:r>
          </a:p>
        </p:txBody>
      </p:sp>
      <p:sp>
        <p:nvSpPr>
          <p:cNvPr id="3" name="Text Placeholder 2"/>
          <p:cNvSpPr>
            <a:spLocks noGrp="1"/>
          </p:cNvSpPr>
          <p:nvPr>
            <p:ph type="body" idx="1"/>
          </p:nvPr>
        </p:nvSpPr>
        <p:spPr>
          <a:xfrm>
            <a:off x="3719913" y="12789539"/>
            <a:ext cx="40027860" cy="6600823"/>
          </a:xfrm>
        </p:spPr>
        <p:txBody>
          <a:bodyPr anchor="b"/>
          <a:lstStyle>
            <a:lvl1pPr marL="0" indent="0">
              <a:buNone/>
              <a:defRPr sz="9700">
                <a:solidFill>
                  <a:schemeClr val="tx1">
                    <a:tint val="75000"/>
                  </a:schemeClr>
                </a:solidFill>
              </a:defRPr>
            </a:lvl1pPr>
            <a:lvl2pPr marL="2220666" indent="0">
              <a:buNone/>
              <a:defRPr sz="8700">
                <a:solidFill>
                  <a:schemeClr val="tx1">
                    <a:tint val="75000"/>
                  </a:schemeClr>
                </a:solidFill>
              </a:defRPr>
            </a:lvl2pPr>
            <a:lvl3pPr marL="4441332" indent="0">
              <a:buNone/>
              <a:defRPr sz="7800">
                <a:solidFill>
                  <a:schemeClr val="tx1">
                    <a:tint val="75000"/>
                  </a:schemeClr>
                </a:solidFill>
              </a:defRPr>
            </a:lvl3pPr>
            <a:lvl4pPr marL="6661998" indent="0">
              <a:buNone/>
              <a:defRPr sz="6800">
                <a:solidFill>
                  <a:schemeClr val="tx1">
                    <a:tint val="75000"/>
                  </a:schemeClr>
                </a:solidFill>
              </a:defRPr>
            </a:lvl4pPr>
            <a:lvl5pPr marL="8882664" indent="0">
              <a:buNone/>
              <a:defRPr sz="6800">
                <a:solidFill>
                  <a:schemeClr val="tx1">
                    <a:tint val="75000"/>
                  </a:schemeClr>
                </a:solidFill>
              </a:defRPr>
            </a:lvl5pPr>
            <a:lvl6pPr marL="11103331" indent="0">
              <a:buNone/>
              <a:defRPr sz="6800">
                <a:solidFill>
                  <a:schemeClr val="tx1">
                    <a:tint val="75000"/>
                  </a:schemeClr>
                </a:solidFill>
              </a:defRPr>
            </a:lvl6pPr>
            <a:lvl7pPr marL="13323997" indent="0">
              <a:buNone/>
              <a:defRPr sz="6800">
                <a:solidFill>
                  <a:schemeClr val="tx1">
                    <a:tint val="75000"/>
                  </a:schemeClr>
                </a:solidFill>
              </a:defRPr>
            </a:lvl7pPr>
            <a:lvl8pPr marL="15544663" indent="0">
              <a:buNone/>
              <a:defRPr sz="6800">
                <a:solidFill>
                  <a:schemeClr val="tx1">
                    <a:tint val="75000"/>
                  </a:schemeClr>
                </a:solidFill>
              </a:defRPr>
            </a:lvl8pPr>
            <a:lvl9pPr marL="17765329" indent="0">
              <a:buNone/>
              <a:defRPr sz="6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D7F6B7-07CC-4E8D-ACF5-2B2142401CA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247089" y="30978481"/>
            <a:ext cx="109798644" cy="87626823"/>
          </a:xfrm>
        </p:spPr>
        <p:txBody>
          <a:bodyPr/>
          <a:lstStyle>
            <a:lvl1pPr>
              <a:defRPr sz="13600"/>
            </a:lvl1pPr>
            <a:lvl2pPr>
              <a:defRPr sz="117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2830593" y="30978481"/>
            <a:ext cx="109798644" cy="87626823"/>
          </a:xfrm>
        </p:spPr>
        <p:txBody>
          <a:bodyPr/>
          <a:lstStyle>
            <a:lvl1pPr>
              <a:defRPr sz="13600"/>
            </a:lvl1pPr>
            <a:lvl2pPr>
              <a:defRPr sz="117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D7F6B7-07CC-4E8D-ACF5-2B2142401CA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54580" y="1208407"/>
            <a:ext cx="42382440" cy="5029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354581" y="6754499"/>
            <a:ext cx="20806968" cy="2814953"/>
          </a:xfrm>
        </p:spPr>
        <p:txBody>
          <a:bodyPr anchor="b"/>
          <a:lstStyle>
            <a:lvl1pPr marL="0" indent="0">
              <a:buNone/>
              <a:defRPr sz="11700" b="1"/>
            </a:lvl1pPr>
            <a:lvl2pPr marL="2220666" indent="0">
              <a:buNone/>
              <a:defRPr sz="9700" b="1"/>
            </a:lvl2pPr>
            <a:lvl3pPr marL="4441332" indent="0">
              <a:buNone/>
              <a:defRPr sz="8700" b="1"/>
            </a:lvl3pPr>
            <a:lvl4pPr marL="6661998" indent="0">
              <a:buNone/>
              <a:defRPr sz="7800" b="1"/>
            </a:lvl4pPr>
            <a:lvl5pPr marL="8882664" indent="0">
              <a:buNone/>
              <a:defRPr sz="7800" b="1"/>
            </a:lvl5pPr>
            <a:lvl6pPr marL="11103331" indent="0">
              <a:buNone/>
              <a:defRPr sz="7800" b="1"/>
            </a:lvl6pPr>
            <a:lvl7pPr marL="13323997" indent="0">
              <a:buNone/>
              <a:defRPr sz="7800" b="1"/>
            </a:lvl7pPr>
            <a:lvl8pPr marL="15544663" indent="0">
              <a:buNone/>
              <a:defRPr sz="7800" b="1"/>
            </a:lvl8pPr>
            <a:lvl9pPr marL="17765329" indent="0">
              <a:buNone/>
              <a:defRPr sz="7800" b="1"/>
            </a:lvl9pPr>
          </a:lstStyle>
          <a:p>
            <a:pPr lvl="0"/>
            <a:r>
              <a:rPr lang="en-US"/>
              <a:t>Click to edit Master text styles</a:t>
            </a:r>
          </a:p>
        </p:txBody>
      </p:sp>
      <p:sp>
        <p:nvSpPr>
          <p:cNvPr id="4" name="Content Placeholder 3"/>
          <p:cNvSpPr>
            <a:spLocks noGrp="1"/>
          </p:cNvSpPr>
          <p:nvPr>
            <p:ph sz="half" idx="2"/>
          </p:nvPr>
        </p:nvSpPr>
        <p:spPr>
          <a:xfrm>
            <a:off x="2354581" y="9569452"/>
            <a:ext cx="20806968" cy="17385667"/>
          </a:xfrm>
        </p:spPr>
        <p:txBody>
          <a:bodyPr/>
          <a:lstStyle>
            <a:lvl1pPr>
              <a:defRPr sz="11700"/>
            </a:lvl1pPr>
            <a:lvl2pPr>
              <a:defRPr sz="97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921882" y="6754499"/>
            <a:ext cx="20815142" cy="2814953"/>
          </a:xfrm>
        </p:spPr>
        <p:txBody>
          <a:bodyPr anchor="b"/>
          <a:lstStyle>
            <a:lvl1pPr marL="0" indent="0">
              <a:buNone/>
              <a:defRPr sz="11700" b="1"/>
            </a:lvl1pPr>
            <a:lvl2pPr marL="2220666" indent="0">
              <a:buNone/>
              <a:defRPr sz="9700" b="1"/>
            </a:lvl2pPr>
            <a:lvl3pPr marL="4441332" indent="0">
              <a:buNone/>
              <a:defRPr sz="8700" b="1"/>
            </a:lvl3pPr>
            <a:lvl4pPr marL="6661998" indent="0">
              <a:buNone/>
              <a:defRPr sz="7800" b="1"/>
            </a:lvl4pPr>
            <a:lvl5pPr marL="8882664" indent="0">
              <a:buNone/>
              <a:defRPr sz="7800" b="1"/>
            </a:lvl5pPr>
            <a:lvl6pPr marL="11103331" indent="0">
              <a:buNone/>
              <a:defRPr sz="7800" b="1"/>
            </a:lvl6pPr>
            <a:lvl7pPr marL="13323997" indent="0">
              <a:buNone/>
              <a:defRPr sz="7800" b="1"/>
            </a:lvl7pPr>
            <a:lvl8pPr marL="15544663" indent="0">
              <a:buNone/>
              <a:defRPr sz="7800" b="1"/>
            </a:lvl8pPr>
            <a:lvl9pPr marL="17765329" indent="0">
              <a:buNone/>
              <a:defRPr sz="7800" b="1"/>
            </a:lvl9pPr>
          </a:lstStyle>
          <a:p>
            <a:pPr lvl="0"/>
            <a:r>
              <a:rPr lang="en-US"/>
              <a:t>Click to edit Master text styles</a:t>
            </a:r>
          </a:p>
        </p:txBody>
      </p:sp>
      <p:sp>
        <p:nvSpPr>
          <p:cNvPr id="6" name="Content Placeholder 5"/>
          <p:cNvSpPr>
            <a:spLocks noGrp="1"/>
          </p:cNvSpPr>
          <p:nvPr>
            <p:ph sz="quarter" idx="4"/>
          </p:nvPr>
        </p:nvSpPr>
        <p:spPr>
          <a:xfrm>
            <a:off x="23921882" y="9569452"/>
            <a:ext cx="20815142" cy="17385667"/>
          </a:xfrm>
        </p:spPr>
        <p:txBody>
          <a:bodyPr/>
          <a:lstStyle>
            <a:lvl1pPr>
              <a:defRPr sz="11700"/>
            </a:lvl1pPr>
            <a:lvl2pPr>
              <a:defRPr sz="97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D7F6B7-07CC-4E8D-ACF5-2B2142401CA8}"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5D7F6B7-07CC-4E8D-ACF5-2B2142401CA8}"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D7F6B7-07CC-4E8D-ACF5-2B2142401CA8}"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54582" y="1201420"/>
            <a:ext cx="15492813" cy="5113020"/>
          </a:xfrm>
        </p:spPr>
        <p:txBody>
          <a:bodyPr anchor="b"/>
          <a:lstStyle>
            <a:lvl1pPr algn="l">
              <a:defRPr sz="9700" b="1"/>
            </a:lvl1pPr>
          </a:lstStyle>
          <a:p>
            <a:r>
              <a:rPr lang="en-US"/>
              <a:t>Click to edit Master title style</a:t>
            </a:r>
          </a:p>
        </p:txBody>
      </p:sp>
      <p:sp>
        <p:nvSpPr>
          <p:cNvPr id="3" name="Content Placeholder 2"/>
          <p:cNvSpPr>
            <a:spLocks noGrp="1"/>
          </p:cNvSpPr>
          <p:nvPr>
            <p:ph idx="1"/>
          </p:nvPr>
        </p:nvSpPr>
        <p:spPr>
          <a:xfrm>
            <a:off x="18411508" y="1201424"/>
            <a:ext cx="26325513" cy="25753697"/>
          </a:xfrm>
        </p:spPr>
        <p:txBody>
          <a:bodyPr/>
          <a:lstStyle>
            <a:lvl1pPr>
              <a:defRPr sz="15500"/>
            </a:lvl1pPr>
            <a:lvl2pPr>
              <a:defRPr sz="13600"/>
            </a:lvl2pPr>
            <a:lvl3pPr>
              <a:defRPr sz="11700"/>
            </a:lvl3pPr>
            <a:lvl4pPr>
              <a:defRPr sz="9700"/>
            </a:lvl4pPr>
            <a:lvl5pPr>
              <a:defRPr sz="9700"/>
            </a:lvl5pPr>
            <a:lvl6pPr>
              <a:defRPr sz="9700"/>
            </a:lvl6pPr>
            <a:lvl7pPr>
              <a:defRPr sz="9700"/>
            </a:lvl7pPr>
            <a:lvl8pPr>
              <a:defRPr sz="9700"/>
            </a:lvl8pPr>
            <a:lvl9pPr>
              <a:defRPr sz="9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54582" y="6314444"/>
            <a:ext cx="15492813" cy="20640677"/>
          </a:xfrm>
        </p:spPr>
        <p:txBody>
          <a:bodyPr/>
          <a:lstStyle>
            <a:lvl1pPr marL="0" indent="0">
              <a:buNone/>
              <a:defRPr sz="6800"/>
            </a:lvl1pPr>
            <a:lvl2pPr marL="2220666" indent="0">
              <a:buNone/>
              <a:defRPr sz="5800"/>
            </a:lvl2pPr>
            <a:lvl3pPr marL="4441332" indent="0">
              <a:buNone/>
              <a:defRPr sz="4900"/>
            </a:lvl3pPr>
            <a:lvl4pPr marL="6661998" indent="0">
              <a:buNone/>
              <a:defRPr sz="4400"/>
            </a:lvl4pPr>
            <a:lvl5pPr marL="8882664" indent="0">
              <a:buNone/>
              <a:defRPr sz="4400"/>
            </a:lvl5pPr>
            <a:lvl6pPr marL="11103331" indent="0">
              <a:buNone/>
              <a:defRPr sz="4400"/>
            </a:lvl6pPr>
            <a:lvl7pPr marL="13323997" indent="0">
              <a:buNone/>
              <a:defRPr sz="4400"/>
            </a:lvl7pPr>
            <a:lvl8pPr marL="15544663" indent="0">
              <a:buNone/>
              <a:defRPr sz="4400"/>
            </a:lvl8pPr>
            <a:lvl9pPr marL="17765329"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45D7F6B7-07CC-4E8D-ACF5-2B2142401CA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30283" y="21122642"/>
            <a:ext cx="28254960" cy="2493647"/>
          </a:xfrm>
        </p:spPr>
        <p:txBody>
          <a:bodyPr anchor="b"/>
          <a:lstStyle>
            <a:lvl1pPr algn="l">
              <a:defRPr sz="9700" b="1"/>
            </a:lvl1pPr>
          </a:lstStyle>
          <a:p>
            <a:r>
              <a:rPr lang="en-US"/>
              <a:t>Click to edit Master title style</a:t>
            </a:r>
          </a:p>
        </p:txBody>
      </p:sp>
      <p:sp>
        <p:nvSpPr>
          <p:cNvPr id="3" name="Picture Placeholder 2"/>
          <p:cNvSpPr>
            <a:spLocks noGrp="1"/>
          </p:cNvSpPr>
          <p:nvPr>
            <p:ph type="pic" idx="1"/>
          </p:nvPr>
        </p:nvSpPr>
        <p:spPr>
          <a:xfrm>
            <a:off x="9230283" y="2696210"/>
            <a:ext cx="28254960" cy="18105120"/>
          </a:xfrm>
        </p:spPr>
        <p:txBody>
          <a:bodyPr/>
          <a:lstStyle>
            <a:lvl1pPr marL="0" indent="0">
              <a:buNone/>
              <a:defRPr sz="15500"/>
            </a:lvl1pPr>
            <a:lvl2pPr marL="2220666" indent="0">
              <a:buNone/>
              <a:defRPr sz="13600"/>
            </a:lvl2pPr>
            <a:lvl3pPr marL="4441332" indent="0">
              <a:buNone/>
              <a:defRPr sz="11700"/>
            </a:lvl3pPr>
            <a:lvl4pPr marL="6661998" indent="0">
              <a:buNone/>
              <a:defRPr sz="9700"/>
            </a:lvl4pPr>
            <a:lvl5pPr marL="8882664" indent="0">
              <a:buNone/>
              <a:defRPr sz="9700"/>
            </a:lvl5pPr>
            <a:lvl6pPr marL="11103331" indent="0">
              <a:buNone/>
              <a:defRPr sz="9700"/>
            </a:lvl6pPr>
            <a:lvl7pPr marL="13323997" indent="0">
              <a:buNone/>
              <a:defRPr sz="9700"/>
            </a:lvl7pPr>
            <a:lvl8pPr marL="15544663" indent="0">
              <a:buNone/>
              <a:defRPr sz="9700"/>
            </a:lvl8pPr>
            <a:lvl9pPr marL="17765329" indent="0">
              <a:buNone/>
              <a:defRPr sz="9700"/>
            </a:lvl9pPr>
          </a:lstStyle>
          <a:p>
            <a:endParaRPr lang="en-US"/>
          </a:p>
        </p:txBody>
      </p:sp>
      <p:sp>
        <p:nvSpPr>
          <p:cNvPr id="4" name="Text Placeholder 3"/>
          <p:cNvSpPr>
            <a:spLocks noGrp="1"/>
          </p:cNvSpPr>
          <p:nvPr>
            <p:ph type="body" sz="half" idx="2"/>
          </p:nvPr>
        </p:nvSpPr>
        <p:spPr>
          <a:xfrm>
            <a:off x="9230283" y="23616289"/>
            <a:ext cx="28254960" cy="3541393"/>
          </a:xfrm>
        </p:spPr>
        <p:txBody>
          <a:bodyPr/>
          <a:lstStyle>
            <a:lvl1pPr marL="0" indent="0">
              <a:buNone/>
              <a:defRPr sz="6800"/>
            </a:lvl1pPr>
            <a:lvl2pPr marL="2220666" indent="0">
              <a:buNone/>
              <a:defRPr sz="5800"/>
            </a:lvl2pPr>
            <a:lvl3pPr marL="4441332" indent="0">
              <a:buNone/>
              <a:defRPr sz="4900"/>
            </a:lvl3pPr>
            <a:lvl4pPr marL="6661998" indent="0">
              <a:buNone/>
              <a:defRPr sz="4400"/>
            </a:lvl4pPr>
            <a:lvl5pPr marL="8882664" indent="0">
              <a:buNone/>
              <a:defRPr sz="4400"/>
            </a:lvl5pPr>
            <a:lvl6pPr marL="11103331" indent="0">
              <a:buNone/>
              <a:defRPr sz="4400"/>
            </a:lvl6pPr>
            <a:lvl7pPr marL="13323997" indent="0">
              <a:buNone/>
              <a:defRPr sz="4400"/>
            </a:lvl7pPr>
            <a:lvl8pPr marL="15544663" indent="0">
              <a:buNone/>
              <a:defRPr sz="4400"/>
            </a:lvl8pPr>
            <a:lvl9pPr marL="17765329"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45D7F6B7-07CC-4E8D-ACF5-2B2142401CA8}"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D7F6B7-07CC-4E8D-ACF5-2B2142401CA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7533700" y="5315589"/>
            <a:ext cx="55095534" cy="1132897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247087" y="5315589"/>
            <a:ext cx="164501753" cy="1132897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D7F6B7-07CC-4E8D-ACF5-2B2142401CA8}"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DE3024-1A7B-416E-9109-9C49B507A3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54580" y="1208407"/>
            <a:ext cx="42382440" cy="5029200"/>
          </a:xfrm>
          <a:prstGeom prst="rect">
            <a:avLst/>
          </a:prstGeom>
        </p:spPr>
        <p:txBody>
          <a:bodyPr vert="horz" lIns="444133" tIns="222067" rIns="444133" bIns="222067" rtlCol="0" anchor="ctr">
            <a:normAutofit/>
          </a:bodyPr>
          <a:lstStyle/>
          <a:p>
            <a:r>
              <a:rPr lang="en-US"/>
              <a:t>Click to edit Master title style</a:t>
            </a:r>
          </a:p>
        </p:txBody>
      </p:sp>
      <p:sp>
        <p:nvSpPr>
          <p:cNvPr id="3" name="Text Placeholder 2"/>
          <p:cNvSpPr>
            <a:spLocks noGrp="1"/>
          </p:cNvSpPr>
          <p:nvPr>
            <p:ph type="body" idx="1"/>
          </p:nvPr>
        </p:nvSpPr>
        <p:spPr>
          <a:xfrm>
            <a:off x="2354580" y="7040884"/>
            <a:ext cx="42382440" cy="19914237"/>
          </a:xfrm>
          <a:prstGeom prst="rect">
            <a:avLst/>
          </a:prstGeom>
        </p:spPr>
        <p:txBody>
          <a:bodyPr vert="horz" lIns="444133" tIns="222067" rIns="444133" bIns="22206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354580" y="27967942"/>
            <a:ext cx="10988040" cy="1606550"/>
          </a:xfrm>
          <a:prstGeom prst="rect">
            <a:avLst/>
          </a:prstGeom>
        </p:spPr>
        <p:txBody>
          <a:bodyPr vert="horz" lIns="444133" tIns="222067" rIns="444133" bIns="222067" rtlCol="0" anchor="ctr"/>
          <a:lstStyle>
            <a:lvl1pPr algn="l">
              <a:defRPr sz="5800">
                <a:solidFill>
                  <a:schemeClr val="tx1">
                    <a:tint val="75000"/>
                  </a:schemeClr>
                </a:solidFill>
              </a:defRPr>
            </a:lvl1pPr>
          </a:lstStyle>
          <a:p>
            <a:fld id="{45D7F6B7-07CC-4E8D-ACF5-2B2142401CA8}" type="datetimeFigureOut">
              <a:rPr lang="en-US" smtClean="0"/>
              <a:pPr/>
              <a:t>3/2/26</a:t>
            </a:fld>
            <a:endParaRPr lang="en-US"/>
          </a:p>
        </p:txBody>
      </p:sp>
      <p:sp>
        <p:nvSpPr>
          <p:cNvPr id="5" name="Footer Placeholder 4"/>
          <p:cNvSpPr>
            <a:spLocks noGrp="1"/>
          </p:cNvSpPr>
          <p:nvPr>
            <p:ph type="ftr" sz="quarter" idx="3"/>
          </p:nvPr>
        </p:nvSpPr>
        <p:spPr>
          <a:xfrm>
            <a:off x="16089630" y="27967942"/>
            <a:ext cx="14912340" cy="1606550"/>
          </a:xfrm>
          <a:prstGeom prst="rect">
            <a:avLst/>
          </a:prstGeom>
        </p:spPr>
        <p:txBody>
          <a:bodyPr vert="horz" lIns="444133" tIns="222067" rIns="444133" bIns="222067"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3748980" y="27967942"/>
            <a:ext cx="10988040" cy="1606550"/>
          </a:xfrm>
          <a:prstGeom prst="rect">
            <a:avLst/>
          </a:prstGeom>
        </p:spPr>
        <p:txBody>
          <a:bodyPr vert="horz" lIns="444133" tIns="222067" rIns="444133" bIns="222067" rtlCol="0" anchor="ctr"/>
          <a:lstStyle>
            <a:lvl1pPr algn="r">
              <a:defRPr sz="5800">
                <a:solidFill>
                  <a:schemeClr val="tx1">
                    <a:tint val="75000"/>
                  </a:schemeClr>
                </a:solidFill>
              </a:defRPr>
            </a:lvl1pPr>
          </a:lstStyle>
          <a:p>
            <a:fld id="{93DE3024-1A7B-416E-9109-9C49B507A3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41332" rtl="0" eaLnBrk="1" latinLnBrk="0" hangingPunct="1">
        <a:spcBef>
          <a:spcPct val="0"/>
        </a:spcBef>
        <a:buNone/>
        <a:defRPr sz="21400" kern="1200">
          <a:solidFill>
            <a:schemeClr val="tx1"/>
          </a:solidFill>
          <a:latin typeface="+mj-lt"/>
          <a:ea typeface="+mj-ea"/>
          <a:cs typeface="+mj-cs"/>
        </a:defRPr>
      </a:lvl1pPr>
    </p:titleStyle>
    <p:bodyStyle>
      <a:lvl1pPr marL="1665500" indent="-1665500" algn="l" defTabSz="4441332" rtl="0" eaLnBrk="1" latinLnBrk="0" hangingPunct="1">
        <a:spcBef>
          <a:spcPct val="20000"/>
        </a:spcBef>
        <a:buFont typeface="Arial" pitchFamily="34" charset="0"/>
        <a:buChar char="•"/>
        <a:defRPr sz="15500" kern="1200">
          <a:solidFill>
            <a:schemeClr val="tx1"/>
          </a:solidFill>
          <a:latin typeface="+mn-lt"/>
          <a:ea typeface="+mn-ea"/>
          <a:cs typeface="+mn-cs"/>
        </a:defRPr>
      </a:lvl1pPr>
      <a:lvl2pPr marL="3608582" indent="-1387916" algn="l" defTabSz="4441332" rtl="0" eaLnBrk="1" latinLnBrk="0" hangingPunct="1">
        <a:spcBef>
          <a:spcPct val="20000"/>
        </a:spcBef>
        <a:buFont typeface="Arial" pitchFamily="34" charset="0"/>
        <a:buChar char="–"/>
        <a:defRPr sz="13600" kern="1200">
          <a:solidFill>
            <a:schemeClr val="tx1"/>
          </a:solidFill>
          <a:latin typeface="+mn-lt"/>
          <a:ea typeface="+mn-ea"/>
          <a:cs typeface="+mn-cs"/>
        </a:defRPr>
      </a:lvl2pPr>
      <a:lvl3pPr marL="5551665" indent="-1110333" algn="l" defTabSz="4441332" rtl="0" eaLnBrk="1" latinLnBrk="0" hangingPunct="1">
        <a:spcBef>
          <a:spcPct val="20000"/>
        </a:spcBef>
        <a:buFont typeface="Arial" pitchFamily="34" charset="0"/>
        <a:buChar char="•"/>
        <a:defRPr sz="11700" kern="1200">
          <a:solidFill>
            <a:schemeClr val="tx1"/>
          </a:solidFill>
          <a:latin typeface="+mn-lt"/>
          <a:ea typeface="+mn-ea"/>
          <a:cs typeface="+mn-cs"/>
        </a:defRPr>
      </a:lvl3pPr>
      <a:lvl4pPr marL="7772331"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992998"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213664"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434330"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654996"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875662" indent="-1110333" algn="l" defTabSz="4441332" rtl="0" eaLnBrk="1" latinLnBrk="0" hangingPunct="1">
        <a:spcBef>
          <a:spcPct val="20000"/>
        </a:spcBef>
        <a:buFont typeface="Arial" pitchFamily="34" charset="0"/>
        <a:buChar char="•"/>
        <a:defRPr sz="9700" kern="1200">
          <a:solidFill>
            <a:schemeClr val="tx1"/>
          </a:solidFill>
          <a:latin typeface="+mn-lt"/>
          <a:ea typeface="+mn-ea"/>
          <a:cs typeface="+mn-cs"/>
        </a:defRPr>
      </a:lvl9pPr>
    </p:bodyStyle>
    <p:otherStyle>
      <a:defPPr>
        <a:defRPr lang="en-US"/>
      </a:defPPr>
      <a:lvl1pPr marL="0" algn="l" defTabSz="4441332" rtl="0" eaLnBrk="1" latinLnBrk="0" hangingPunct="1">
        <a:defRPr sz="8700" kern="1200">
          <a:solidFill>
            <a:schemeClr val="tx1"/>
          </a:solidFill>
          <a:latin typeface="+mn-lt"/>
          <a:ea typeface="+mn-ea"/>
          <a:cs typeface="+mn-cs"/>
        </a:defRPr>
      </a:lvl1pPr>
      <a:lvl2pPr marL="2220666" algn="l" defTabSz="4441332" rtl="0" eaLnBrk="1" latinLnBrk="0" hangingPunct="1">
        <a:defRPr sz="8700" kern="1200">
          <a:solidFill>
            <a:schemeClr val="tx1"/>
          </a:solidFill>
          <a:latin typeface="+mn-lt"/>
          <a:ea typeface="+mn-ea"/>
          <a:cs typeface="+mn-cs"/>
        </a:defRPr>
      </a:lvl2pPr>
      <a:lvl3pPr marL="4441332" algn="l" defTabSz="4441332" rtl="0" eaLnBrk="1" latinLnBrk="0" hangingPunct="1">
        <a:defRPr sz="8700" kern="1200">
          <a:solidFill>
            <a:schemeClr val="tx1"/>
          </a:solidFill>
          <a:latin typeface="+mn-lt"/>
          <a:ea typeface="+mn-ea"/>
          <a:cs typeface="+mn-cs"/>
        </a:defRPr>
      </a:lvl3pPr>
      <a:lvl4pPr marL="6661998" algn="l" defTabSz="4441332" rtl="0" eaLnBrk="1" latinLnBrk="0" hangingPunct="1">
        <a:defRPr sz="8700" kern="1200">
          <a:solidFill>
            <a:schemeClr val="tx1"/>
          </a:solidFill>
          <a:latin typeface="+mn-lt"/>
          <a:ea typeface="+mn-ea"/>
          <a:cs typeface="+mn-cs"/>
        </a:defRPr>
      </a:lvl4pPr>
      <a:lvl5pPr marL="8882664" algn="l" defTabSz="4441332" rtl="0" eaLnBrk="1" latinLnBrk="0" hangingPunct="1">
        <a:defRPr sz="8700" kern="1200">
          <a:solidFill>
            <a:schemeClr val="tx1"/>
          </a:solidFill>
          <a:latin typeface="+mn-lt"/>
          <a:ea typeface="+mn-ea"/>
          <a:cs typeface="+mn-cs"/>
        </a:defRPr>
      </a:lvl5pPr>
      <a:lvl6pPr marL="11103331" algn="l" defTabSz="4441332" rtl="0" eaLnBrk="1" latinLnBrk="0" hangingPunct="1">
        <a:defRPr sz="8700" kern="1200">
          <a:solidFill>
            <a:schemeClr val="tx1"/>
          </a:solidFill>
          <a:latin typeface="+mn-lt"/>
          <a:ea typeface="+mn-ea"/>
          <a:cs typeface="+mn-cs"/>
        </a:defRPr>
      </a:lvl6pPr>
      <a:lvl7pPr marL="13323997" algn="l" defTabSz="4441332" rtl="0" eaLnBrk="1" latinLnBrk="0" hangingPunct="1">
        <a:defRPr sz="8700" kern="1200">
          <a:solidFill>
            <a:schemeClr val="tx1"/>
          </a:solidFill>
          <a:latin typeface="+mn-lt"/>
          <a:ea typeface="+mn-ea"/>
          <a:cs typeface="+mn-cs"/>
        </a:defRPr>
      </a:lvl7pPr>
      <a:lvl8pPr marL="15544663" algn="l" defTabSz="4441332" rtl="0" eaLnBrk="1" latinLnBrk="0" hangingPunct="1">
        <a:defRPr sz="8700" kern="1200">
          <a:solidFill>
            <a:schemeClr val="tx1"/>
          </a:solidFill>
          <a:latin typeface="+mn-lt"/>
          <a:ea typeface="+mn-ea"/>
          <a:cs typeface="+mn-cs"/>
        </a:defRPr>
      </a:lvl8pPr>
      <a:lvl9pPr marL="17765329" algn="l" defTabSz="4441332" rtl="0" eaLnBrk="1" latinLnBrk="0" hangingPunct="1">
        <a:defRPr sz="8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tiff"/><Relationship Id="rId7"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3.gif"/><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icture 171" descr="pdeSSExplanation.jpg"/>
          <p:cNvPicPr>
            <a:picLocks noChangeAspect="1"/>
          </p:cNvPicPr>
          <p:nvPr/>
        </p:nvPicPr>
        <p:blipFill>
          <a:blip r:embed="rId2" cstate="print"/>
          <a:stretch>
            <a:fillRect/>
          </a:stretch>
        </p:blipFill>
        <p:spPr>
          <a:xfrm>
            <a:off x="41547800" y="5690556"/>
            <a:ext cx="4491246" cy="3204356"/>
          </a:xfrm>
          <a:prstGeom prst="rect">
            <a:avLst/>
          </a:prstGeom>
        </p:spPr>
      </p:pic>
      <p:pic>
        <p:nvPicPr>
          <p:cNvPr id="171" name="Picture 170" descr="pdeExplanation.tif"/>
          <p:cNvPicPr>
            <a:picLocks noChangeAspect="1"/>
          </p:cNvPicPr>
          <p:nvPr/>
        </p:nvPicPr>
        <p:blipFill>
          <a:blip r:embed="rId3" cstate="print"/>
          <a:stretch>
            <a:fillRect/>
          </a:stretch>
        </p:blipFill>
        <p:spPr>
          <a:xfrm>
            <a:off x="31898728" y="5438528"/>
            <a:ext cx="8854045" cy="5400600"/>
          </a:xfrm>
          <a:prstGeom prst="rect">
            <a:avLst/>
          </a:prstGeom>
        </p:spPr>
      </p:pic>
      <p:sp>
        <p:nvSpPr>
          <p:cNvPr id="92" name="Text Box 11"/>
          <p:cNvSpPr txBox="1">
            <a:spLocks noChangeArrowheads="1"/>
          </p:cNvSpPr>
          <p:nvPr/>
        </p:nvSpPr>
        <p:spPr bwMode="auto">
          <a:xfrm>
            <a:off x="62303" y="284016"/>
            <a:ext cx="32268473" cy="6555641"/>
          </a:xfrm>
          <a:prstGeom prst="rect">
            <a:avLst/>
          </a:prstGeom>
          <a:noFill/>
          <a:ln w="9525">
            <a:noFill/>
            <a:miter lim="800000"/>
            <a:headEnd/>
            <a:tailEnd/>
          </a:ln>
          <a:effectLst/>
        </p:spPr>
        <p:txBody>
          <a:bodyPr wrap="square">
            <a:spAutoFit/>
          </a:bodyPr>
          <a:lstStyle/>
          <a:p>
            <a:pPr algn="ctr"/>
            <a:r>
              <a:rPr lang="en-US" sz="6600" b="1" dirty="0" err="1"/>
              <a:t>Tetraploidy</a:t>
            </a:r>
            <a:r>
              <a:rPr lang="en-US" sz="6600" b="1" dirty="0"/>
              <a:t> revealed as an obligate precursor to CIN using fitness landscape modeling </a:t>
            </a:r>
            <a:endParaRPr lang="en-US" sz="6600" dirty="0"/>
          </a:p>
          <a:p>
            <a:pPr algn="ctr"/>
            <a:endParaRPr lang="en-US" sz="7200" dirty="0">
              <a:solidFill>
                <a:schemeClr val="tx2"/>
              </a:solidFill>
            </a:endParaRPr>
          </a:p>
          <a:p>
            <a:pPr algn="ctr"/>
            <a:endParaRPr lang="en-US" sz="7600" b="1" dirty="0">
              <a:solidFill>
                <a:srgbClr val="0070C0"/>
              </a:solidFill>
            </a:endParaRPr>
          </a:p>
          <a:p>
            <a:pPr algn="ctr"/>
            <a:endParaRPr lang="en-US" sz="8000" b="1" dirty="0">
              <a:solidFill>
                <a:srgbClr val="3333CC"/>
              </a:solidFill>
            </a:endParaRPr>
          </a:p>
          <a:p>
            <a:pPr algn="ctr"/>
            <a:endParaRPr lang="en-US" sz="6600" dirty="0">
              <a:solidFill>
                <a:srgbClr val="3333CC"/>
              </a:solidFill>
            </a:endParaRPr>
          </a:p>
          <a:p>
            <a:pPr algn="ctr"/>
            <a:endParaRPr lang="en-US" altLang="en-US" sz="6000" b="1" dirty="0">
              <a:solidFill>
                <a:srgbClr val="003399"/>
              </a:solidFill>
              <a:latin typeface="Arial" pitchFamily="34" charset="0"/>
              <a:cs typeface="Arial" pitchFamily="34" charset="0"/>
            </a:endParaRPr>
          </a:p>
        </p:txBody>
      </p:sp>
      <p:sp>
        <p:nvSpPr>
          <p:cNvPr id="93" name="Text Box 12"/>
          <p:cNvSpPr txBox="1">
            <a:spLocks noChangeArrowheads="1"/>
          </p:cNvSpPr>
          <p:nvPr/>
        </p:nvSpPr>
        <p:spPr bwMode="auto">
          <a:xfrm>
            <a:off x="1187316" y="1622104"/>
            <a:ext cx="40611974" cy="830997"/>
          </a:xfrm>
          <a:prstGeom prst="rect">
            <a:avLst/>
          </a:prstGeom>
          <a:noFill/>
          <a:ln w="9525">
            <a:noFill/>
            <a:miter lim="800000"/>
            <a:headEnd/>
            <a:tailEnd/>
          </a:ln>
          <a:effectLst/>
        </p:spPr>
        <p:txBody>
          <a:bodyPr wrap="square">
            <a:spAutoFit/>
          </a:bodyPr>
          <a:lstStyle/>
          <a:p>
            <a:r>
              <a:rPr lang="en-US" altLang="en-US" sz="4800" b="1" dirty="0">
                <a:latin typeface="+mj-lt"/>
                <a:cs typeface="Arial" pitchFamily="34" charset="0"/>
              </a:rPr>
              <a:t>Kelly Brock, Andrew Chen, Marianna Kleyman, Kristina Godek, Duane Compton, and </a:t>
            </a:r>
            <a:r>
              <a:rPr lang="en-US" altLang="en-US" sz="4800" b="1" dirty="0">
                <a:cs typeface="Arial" pitchFamily="34" charset="0"/>
              </a:rPr>
              <a:t>Arijit Chakravarty</a:t>
            </a:r>
            <a:endParaRPr lang="en-US" altLang="en-US" sz="4800" b="1" dirty="0">
              <a:latin typeface="+mj-lt"/>
              <a:cs typeface="Arial" pitchFamily="34" charset="0"/>
            </a:endParaRPr>
          </a:p>
        </p:txBody>
      </p:sp>
      <p:sp>
        <p:nvSpPr>
          <p:cNvPr id="94" name="Text Box 12"/>
          <p:cNvSpPr txBox="1">
            <a:spLocks noChangeArrowheads="1"/>
          </p:cNvSpPr>
          <p:nvPr/>
        </p:nvSpPr>
        <p:spPr bwMode="auto">
          <a:xfrm>
            <a:off x="1223320" y="2594212"/>
            <a:ext cx="40611974" cy="1569660"/>
          </a:xfrm>
          <a:prstGeom prst="rect">
            <a:avLst/>
          </a:prstGeom>
          <a:noFill/>
          <a:ln w="9525">
            <a:noFill/>
            <a:miter lim="800000"/>
            <a:headEnd/>
            <a:tailEnd/>
          </a:ln>
          <a:effectLst/>
        </p:spPr>
        <p:txBody>
          <a:bodyPr wrap="square">
            <a:spAutoFit/>
          </a:bodyPr>
          <a:lstStyle/>
          <a:p>
            <a:r>
              <a:rPr lang="en-US" altLang="en-US" sz="4800" b="1" dirty="0">
                <a:solidFill>
                  <a:srgbClr val="0070C0"/>
                </a:solidFill>
                <a:latin typeface="+mj-lt"/>
                <a:cs typeface="Arial" pitchFamily="34" charset="0"/>
              </a:rPr>
              <a:t>DMPK, Takeda Pharmaceuticals International Co., Cambridge, MA, USA</a:t>
            </a:r>
          </a:p>
          <a:p>
            <a:r>
              <a:rPr lang="en-US" altLang="en-US" sz="4800" b="1" dirty="0">
                <a:solidFill>
                  <a:srgbClr val="0070C0"/>
                </a:solidFill>
                <a:latin typeface="+mj-lt"/>
                <a:cs typeface="Arial" pitchFamily="34" charset="0"/>
              </a:rPr>
              <a:t>Dartmouth University, Hanover, NH, USA</a:t>
            </a:r>
          </a:p>
        </p:txBody>
      </p:sp>
      <p:grpSp>
        <p:nvGrpSpPr>
          <p:cNvPr id="144" name="Group 143"/>
          <p:cNvGrpSpPr/>
          <p:nvPr/>
        </p:nvGrpSpPr>
        <p:grpSpPr>
          <a:xfrm>
            <a:off x="620059" y="9759008"/>
            <a:ext cx="16228409" cy="7092788"/>
            <a:chOff x="620059" y="7909944"/>
            <a:chExt cx="16228409" cy="9289032"/>
          </a:xfrm>
        </p:grpSpPr>
        <p:sp>
          <p:nvSpPr>
            <p:cNvPr id="97" name="Rectangle 96"/>
            <p:cNvSpPr/>
            <p:nvPr/>
          </p:nvSpPr>
          <p:spPr bwMode="auto">
            <a:xfrm>
              <a:off x="620059" y="8152817"/>
              <a:ext cx="16184880" cy="9046159"/>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98" name="Rectangle 97"/>
            <p:cNvSpPr/>
            <p:nvPr/>
          </p:nvSpPr>
          <p:spPr bwMode="auto">
            <a:xfrm>
              <a:off x="627389" y="7909944"/>
              <a:ext cx="16184880" cy="990201"/>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99" name="TextBox 98"/>
            <p:cNvSpPr txBox="1"/>
            <p:nvPr/>
          </p:nvSpPr>
          <p:spPr>
            <a:xfrm>
              <a:off x="663588" y="7957979"/>
              <a:ext cx="16184880" cy="846464"/>
            </a:xfrm>
            <a:prstGeom prst="rect">
              <a:avLst/>
            </a:prstGeom>
            <a:noFill/>
          </p:spPr>
          <p:txBody>
            <a:bodyPr wrap="square" rtlCol="0">
              <a:spAutoFit/>
            </a:bodyPr>
            <a:lstStyle/>
            <a:p>
              <a:pPr algn="ctr"/>
              <a:r>
                <a:rPr lang="en-US" sz="3600" dirty="0">
                  <a:solidFill>
                    <a:schemeClr val="bg1"/>
                  </a:solidFill>
                </a:rPr>
                <a:t>METHODS</a:t>
              </a:r>
            </a:p>
          </p:txBody>
        </p:sp>
        <p:sp>
          <p:nvSpPr>
            <p:cNvPr id="100" name="TextBox 99"/>
            <p:cNvSpPr txBox="1"/>
            <p:nvPr/>
          </p:nvSpPr>
          <p:spPr>
            <a:xfrm>
              <a:off x="1007296" y="9796042"/>
              <a:ext cx="15544800" cy="5925245"/>
            </a:xfrm>
            <a:prstGeom prst="rect">
              <a:avLst/>
            </a:prstGeom>
            <a:noFill/>
          </p:spPr>
          <p:txBody>
            <a:bodyPr wrap="square" rtlCol="0">
              <a:spAutoFit/>
            </a:bodyPr>
            <a:lstStyle/>
            <a:p>
              <a:r>
                <a:rPr lang="en-US" sz="3200" dirty="0">
                  <a:latin typeface="Times New Roman" pitchFamily="18" charset="0"/>
                  <a:cs typeface="Times New Roman" pitchFamily="18" charset="0"/>
                </a:rPr>
                <a:t>  </a:t>
              </a:r>
              <a:r>
                <a:rPr lang="en-US" sz="3200" dirty="0"/>
                <a:t>To model how chromosome counts can shift over time, we use a partial differential equation that contains a diffusion term corresponding to chromosome </a:t>
              </a:r>
              <a:r>
                <a:rPr lang="en-US" sz="3200" dirty="0" err="1"/>
                <a:t>missegregation</a:t>
              </a:r>
              <a:r>
                <a:rPr lang="en-US" sz="3200" dirty="0"/>
                <a:t> and a growth term proportional to the relative fitness of a particular chromosomal distribution.  Using this framework, a fitness landscape that connects chromosome count to relative fitness can be inferred from a steady-state cellular population.  Fluorescence </a:t>
              </a:r>
              <a:r>
                <a:rPr lang="en-US" sz="3200" i="1" dirty="0"/>
                <a:t>in situ</a:t>
              </a:r>
              <a:r>
                <a:rPr lang="en-US" sz="3200" dirty="0"/>
                <a:t> hybridization (FISH) was used to track chromosome counts in both CIN and non-CIN cell lines over the course of 2 months, with data collected for chromosome 10 individually and for the group of chromosomes 1, 5, and 19. Experimental results were then analyzed using our mathematical framework to determine fitness landscapes for both CIN and non-CIN cells.  </a:t>
              </a:r>
            </a:p>
          </p:txBody>
        </p:sp>
      </p:grpSp>
      <p:grpSp>
        <p:nvGrpSpPr>
          <p:cNvPr id="143" name="Group 142"/>
          <p:cNvGrpSpPr/>
          <p:nvPr/>
        </p:nvGrpSpPr>
        <p:grpSpPr>
          <a:xfrm>
            <a:off x="620647" y="17488856"/>
            <a:ext cx="16228409" cy="7031792"/>
            <a:chOff x="620059" y="15168836"/>
            <a:chExt cx="16228409" cy="7031792"/>
          </a:xfrm>
        </p:grpSpPr>
        <p:sp>
          <p:nvSpPr>
            <p:cNvPr id="101" name="Rectangle 100"/>
            <p:cNvSpPr/>
            <p:nvPr/>
          </p:nvSpPr>
          <p:spPr bwMode="auto">
            <a:xfrm>
              <a:off x="620059" y="15168836"/>
              <a:ext cx="16184880" cy="7031792"/>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102" name="Rectangle 101"/>
            <p:cNvSpPr/>
            <p:nvPr/>
          </p:nvSpPr>
          <p:spPr bwMode="auto">
            <a:xfrm>
              <a:off x="627389" y="15170702"/>
              <a:ext cx="16184880" cy="801234"/>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03" name="TextBox 102"/>
            <p:cNvSpPr txBox="1"/>
            <p:nvPr/>
          </p:nvSpPr>
          <p:spPr>
            <a:xfrm>
              <a:off x="663588" y="15218737"/>
              <a:ext cx="16184880" cy="646331"/>
            </a:xfrm>
            <a:prstGeom prst="rect">
              <a:avLst/>
            </a:prstGeom>
            <a:noFill/>
          </p:spPr>
          <p:txBody>
            <a:bodyPr wrap="square" rtlCol="0">
              <a:spAutoFit/>
            </a:bodyPr>
            <a:lstStyle/>
            <a:p>
              <a:pPr algn="ctr"/>
              <a:r>
                <a:rPr lang="en-US" sz="3600" dirty="0">
                  <a:solidFill>
                    <a:schemeClr val="bg1"/>
                  </a:solidFill>
                </a:rPr>
                <a:t>RESULTS</a:t>
              </a:r>
            </a:p>
          </p:txBody>
        </p:sp>
        <p:sp>
          <p:nvSpPr>
            <p:cNvPr id="104" name="TextBox 103"/>
            <p:cNvSpPr txBox="1"/>
            <p:nvPr/>
          </p:nvSpPr>
          <p:spPr>
            <a:xfrm>
              <a:off x="970704" y="16620008"/>
              <a:ext cx="15544800" cy="5016758"/>
            </a:xfrm>
            <a:prstGeom prst="rect">
              <a:avLst/>
            </a:prstGeom>
            <a:noFill/>
          </p:spPr>
          <p:txBody>
            <a:bodyPr wrap="square" rtlCol="0">
              <a:spAutoFit/>
            </a:bodyPr>
            <a:lstStyle/>
            <a:p>
              <a:pPr>
                <a:buFont typeface="Wingdings" pitchFamily="2" charset="2"/>
                <a:buChar char="v"/>
              </a:pPr>
              <a:r>
                <a:rPr lang="en-US" sz="3200" dirty="0">
                  <a:cs typeface="Times New Roman" pitchFamily="18" charset="0"/>
                </a:rPr>
                <a:t>  A partial differential equation was developed to model how chromosome counts change over time based on a diffusion-like term corresponding to lagging chromosome rate and a growth rate based on a chromosome count’s contribution to overall cellular fitness. </a:t>
              </a:r>
            </a:p>
            <a:p>
              <a:r>
                <a:rPr lang="en-US" sz="3200" dirty="0">
                  <a:cs typeface="Times New Roman" pitchFamily="18" charset="0"/>
                </a:rPr>
                <a:t> </a:t>
              </a:r>
            </a:p>
            <a:p>
              <a:pPr>
                <a:buFont typeface="Wingdings" pitchFamily="2" charset="2"/>
                <a:buChar char="v"/>
              </a:pPr>
              <a:r>
                <a:rPr lang="en-US" sz="3200" dirty="0"/>
                <a:t>The CIN lines exhibited chromosome count distributions that were statistically closer to normal distributions than non-CIN lines.  </a:t>
              </a:r>
            </a:p>
            <a:p>
              <a:pPr>
                <a:buFont typeface="Wingdings" pitchFamily="2" charset="2"/>
                <a:buChar char="v"/>
              </a:pPr>
              <a:endParaRPr lang="en-US" sz="3200" dirty="0"/>
            </a:p>
            <a:p>
              <a:pPr>
                <a:buFont typeface="Wingdings" pitchFamily="2" charset="2"/>
                <a:buChar char="v"/>
              </a:pPr>
              <a:r>
                <a:rPr lang="en-US" sz="3200" dirty="0"/>
                <a:t>When connected to our mathematical model, these distributions  imply that the CIN lines have a flatter fitness landscape than their non-CIN counterparts.  This finding reinforces the notion that CIN lines are tolerant of highly varying degrees of </a:t>
              </a:r>
              <a:r>
                <a:rPr lang="en-US" sz="3200" dirty="0" err="1"/>
                <a:t>aneuploidy</a:t>
              </a:r>
              <a:r>
                <a:rPr lang="en-US" sz="3200" dirty="0"/>
                <a:t>. </a:t>
              </a:r>
              <a:endParaRPr lang="en-US" sz="3200" dirty="0">
                <a:cs typeface="Times New Roman" pitchFamily="18" charset="0"/>
              </a:endParaRPr>
            </a:p>
          </p:txBody>
        </p:sp>
      </p:grpSp>
      <p:grpSp>
        <p:nvGrpSpPr>
          <p:cNvPr id="145" name="Group 144"/>
          <p:cNvGrpSpPr/>
          <p:nvPr/>
        </p:nvGrpSpPr>
        <p:grpSpPr>
          <a:xfrm>
            <a:off x="620059" y="4070376"/>
            <a:ext cx="16209166" cy="5184576"/>
            <a:chOff x="620059" y="4070376"/>
            <a:chExt cx="16209166" cy="5109978"/>
          </a:xfrm>
        </p:grpSpPr>
        <p:sp>
          <p:nvSpPr>
            <p:cNvPr id="105" name="Rectangle 104"/>
            <p:cNvSpPr/>
            <p:nvPr/>
          </p:nvSpPr>
          <p:spPr bwMode="auto">
            <a:xfrm>
              <a:off x="620059" y="4070376"/>
              <a:ext cx="16184880" cy="5109978"/>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106" name="Rectangle 105"/>
            <p:cNvSpPr/>
            <p:nvPr/>
          </p:nvSpPr>
          <p:spPr bwMode="auto">
            <a:xfrm>
              <a:off x="627389" y="4072242"/>
              <a:ext cx="16184880" cy="79022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07" name="TextBox 106"/>
            <p:cNvSpPr txBox="1"/>
            <p:nvPr/>
          </p:nvSpPr>
          <p:spPr>
            <a:xfrm>
              <a:off x="644345" y="4120276"/>
              <a:ext cx="16184880" cy="646331"/>
            </a:xfrm>
            <a:prstGeom prst="rect">
              <a:avLst/>
            </a:prstGeom>
            <a:noFill/>
          </p:spPr>
          <p:txBody>
            <a:bodyPr wrap="square" rtlCol="0">
              <a:spAutoFit/>
            </a:bodyPr>
            <a:lstStyle/>
            <a:p>
              <a:pPr algn="ctr"/>
              <a:r>
                <a:rPr lang="en-US" sz="3600" dirty="0">
                  <a:solidFill>
                    <a:schemeClr val="bg1"/>
                  </a:solidFill>
                </a:rPr>
                <a:t>BACKGROUND</a:t>
              </a:r>
            </a:p>
          </p:txBody>
        </p:sp>
        <p:sp>
          <p:nvSpPr>
            <p:cNvPr id="108" name="TextBox 107"/>
            <p:cNvSpPr txBox="1"/>
            <p:nvPr/>
          </p:nvSpPr>
          <p:spPr>
            <a:xfrm>
              <a:off x="1007296" y="5312385"/>
              <a:ext cx="15544800" cy="2032433"/>
            </a:xfrm>
            <a:prstGeom prst="rect">
              <a:avLst/>
            </a:prstGeom>
            <a:noFill/>
          </p:spPr>
          <p:txBody>
            <a:bodyPr wrap="square" rtlCol="0">
              <a:spAutoFit/>
            </a:bodyPr>
            <a:lstStyle/>
            <a:p>
              <a:r>
                <a:rPr lang="en-US" sz="3200" dirty="0"/>
                <a:t>Up to 90% of solid tumors display chromosomal instability (CIN), which is defined by an increased </a:t>
              </a:r>
              <a:r>
                <a:rPr lang="en-US" sz="3200" dirty="0" err="1"/>
                <a:t>missegregation</a:t>
              </a:r>
              <a:r>
                <a:rPr lang="en-US" sz="3200" dirty="0"/>
                <a:t> rate that can lead to a </a:t>
              </a:r>
              <a:r>
                <a:rPr lang="en-US" sz="3200" dirty="0" err="1"/>
                <a:t>heterogenous</a:t>
              </a:r>
              <a:r>
                <a:rPr lang="en-US" sz="3200" dirty="0"/>
                <a:t> population of </a:t>
              </a:r>
              <a:r>
                <a:rPr lang="en-US" sz="3200" dirty="0" err="1"/>
                <a:t>aneuploid</a:t>
              </a:r>
              <a:r>
                <a:rPr lang="en-US" sz="3200" dirty="0"/>
                <a:t> cells.  Tumors that display CIN tend to be more resistant to certain treatment regimens and are overall associated with a poorer patient prognosis.  </a:t>
              </a:r>
            </a:p>
          </p:txBody>
        </p:sp>
      </p:grpSp>
      <p:grpSp>
        <p:nvGrpSpPr>
          <p:cNvPr id="142" name="Group 141"/>
          <p:cNvGrpSpPr/>
          <p:nvPr/>
        </p:nvGrpSpPr>
        <p:grpSpPr>
          <a:xfrm>
            <a:off x="611252" y="25096712"/>
            <a:ext cx="16209166" cy="4544460"/>
            <a:chOff x="618516" y="22469410"/>
            <a:chExt cx="16209166" cy="4544460"/>
          </a:xfrm>
        </p:grpSpPr>
        <p:sp>
          <p:nvSpPr>
            <p:cNvPr id="109" name="Rectangle 108"/>
            <p:cNvSpPr/>
            <p:nvPr/>
          </p:nvSpPr>
          <p:spPr bwMode="auto">
            <a:xfrm>
              <a:off x="618516" y="22469410"/>
              <a:ext cx="16184880" cy="4544460"/>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110" name="Rectangle 109"/>
            <p:cNvSpPr/>
            <p:nvPr/>
          </p:nvSpPr>
          <p:spPr bwMode="auto">
            <a:xfrm>
              <a:off x="625846" y="22471282"/>
              <a:ext cx="16184880" cy="611867"/>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11" name="TextBox 110"/>
            <p:cNvSpPr txBox="1"/>
            <p:nvPr/>
          </p:nvSpPr>
          <p:spPr>
            <a:xfrm>
              <a:off x="642802" y="22500072"/>
              <a:ext cx="16184880" cy="523220"/>
            </a:xfrm>
            <a:prstGeom prst="rect">
              <a:avLst/>
            </a:prstGeom>
            <a:noFill/>
          </p:spPr>
          <p:txBody>
            <a:bodyPr wrap="square" rtlCol="0">
              <a:spAutoFit/>
            </a:bodyPr>
            <a:lstStyle/>
            <a:p>
              <a:pPr algn="ctr"/>
              <a:r>
                <a:rPr lang="en-US" sz="2800" dirty="0">
                  <a:solidFill>
                    <a:schemeClr val="bg1"/>
                  </a:solidFill>
                </a:rPr>
                <a:t>CONCLUSIONS</a:t>
              </a:r>
            </a:p>
          </p:txBody>
        </p:sp>
        <p:sp>
          <p:nvSpPr>
            <p:cNvPr id="112" name="TextBox 111"/>
            <p:cNvSpPr txBox="1"/>
            <p:nvPr/>
          </p:nvSpPr>
          <p:spPr>
            <a:xfrm>
              <a:off x="1041644" y="23511367"/>
              <a:ext cx="15544800" cy="3046988"/>
            </a:xfrm>
            <a:prstGeom prst="rect">
              <a:avLst/>
            </a:prstGeom>
            <a:noFill/>
          </p:spPr>
          <p:txBody>
            <a:bodyPr wrap="square" rtlCol="0">
              <a:spAutoFit/>
            </a:bodyPr>
            <a:lstStyle/>
            <a:p>
              <a:r>
                <a:rPr lang="en-US" sz="3200" dirty="0"/>
                <a:t>CIN tumors may be more resilient to treatment with </a:t>
              </a:r>
              <a:r>
                <a:rPr lang="en-US" sz="3200" dirty="0" err="1"/>
                <a:t>taxanes</a:t>
              </a:r>
              <a:r>
                <a:rPr lang="en-US" sz="3200" dirty="0"/>
                <a:t> and other microtubule or mitotic targeting drugs.  The flatter fitness landscapes associated with CIN provide an explanation for why these drugs are less effective, since increasing or decreasing the number of chromosomes in a CIN line does not lead to a relatively large change in fitness.  These findings provide a novel method  of planning treatments for CIN cancers that do not depend solely on affecting mitotic fidelity. </a:t>
              </a:r>
            </a:p>
          </p:txBody>
        </p:sp>
      </p:grpSp>
      <p:pic>
        <p:nvPicPr>
          <p:cNvPr id="113" name="Picture 112" descr="takeda-pharmaceutical-co.gif"/>
          <p:cNvPicPr>
            <a:picLocks noChangeAspect="1"/>
          </p:cNvPicPr>
          <p:nvPr/>
        </p:nvPicPr>
        <p:blipFill>
          <a:blip r:embed="rId4" cstate="print"/>
          <a:stretch>
            <a:fillRect/>
          </a:stretch>
        </p:blipFill>
        <p:spPr>
          <a:xfrm>
            <a:off x="38847500" y="749217"/>
            <a:ext cx="7474649" cy="2550224"/>
          </a:xfrm>
          <a:prstGeom prst="rect">
            <a:avLst/>
          </a:prstGeom>
        </p:spPr>
      </p:pic>
      <p:sp>
        <p:nvSpPr>
          <p:cNvPr id="115" name="Rectangle 114"/>
          <p:cNvSpPr/>
          <p:nvPr/>
        </p:nvSpPr>
        <p:spPr bwMode="auto">
          <a:xfrm>
            <a:off x="31646700" y="4106380"/>
            <a:ext cx="1565730" cy="638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16" name="TextBox 115"/>
          <p:cNvSpPr txBox="1"/>
          <p:nvPr/>
        </p:nvSpPr>
        <p:spPr>
          <a:xfrm>
            <a:off x="33265169" y="4142384"/>
            <a:ext cx="7598555" cy="584775"/>
          </a:xfrm>
          <a:prstGeom prst="rect">
            <a:avLst/>
          </a:prstGeom>
          <a:noFill/>
        </p:spPr>
        <p:txBody>
          <a:bodyPr wrap="none" rtlCol="0">
            <a:spAutoFit/>
          </a:bodyPr>
          <a:lstStyle/>
          <a:p>
            <a:r>
              <a:rPr lang="en-US" sz="3200" b="1" dirty="0"/>
              <a:t>Modeling CIN through diffusion and growth</a:t>
            </a:r>
          </a:p>
        </p:txBody>
      </p:sp>
      <p:sp>
        <p:nvSpPr>
          <p:cNvPr id="117" name="TextBox 116"/>
          <p:cNvSpPr txBox="1"/>
          <p:nvPr/>
        </p:nvSpPr>
        <p:spPr>
          <a:xfrm>
            <a:off x="31682704" y="4139521"/>
            <a:ext cx="1418492" cy="523220"/>
          </a:xfrm>
          <a:prstGeom prst="rect">
            <a:avLst/>
          </a:prstGeom>
          <a:noFill/>
        </p:spPr>
        <p:txBody>
          <a:bodyPr wrap="none" rtlCol="0">
            <a:spAutoFit/>
          </a:bodyPr>
          <a:lstStyle/>
          <a:p>
            <a:r>
              <a:rPr lang="en-US" sz="2800" dirty="0">
                <a:solidFill>
                  <a:schemeClr val="bg1"/>
                </a:solidFill>
              </a:rPr>
              <a:t>Figure 2</a:t>
            </a:r>
          </a:p>
        </p:txBody>
      </p:sp>
      <p:sp>
        <p:nvSpPr>
          <p:cNvPr id="118" name="Rectangle 117"/>
          <p:cNvSpPr/>
          <p:nvPr/>
        </p:nvSpPr>
        <p:spPr bwMode="auto">
          <a:xfrm>
            <a:off x="31610696" y="4070376"/>
            <a:ext cx="14729376" cy="9145016"/>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p:txBody>
      </p:sp>
      <p:sp>
        <p:nvSpPr>
          <p:cNvPr id="120" name="Rectangle 119"/>
          <p:cNvSpPr/>
          <p:nvPr/>
        </p:nvSpPr>
        <p:spPr bwMode="auto">
          <a:xfrm>
            <a:off x="29276166" y="13613302"/>
            <a:ext cx="1565730" cy="638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22" name="TextBox 121"/>
          <p:cNvSpPr txBox="1"/>
          <p:nvPr/>
        </p:nvSpPr>
        <p:spPr>
          <a:xfrm>
            <a:off x="29412733" y="13680580"/>
            <a:ext cx="1351717" cy="523220"/>
          </a:xfrm>
          <a:prstGeom prst="rect">
            <a:avLst/>
          </a:prstGeom>
          <a:noFill/>
        </p:spPr>
        <p:txBody>
          <a:bodyPr wrap="none" rtlCol="0">
            <a:spAutoFit/>
          </a:bodyPr>
          <a:lstStyle/>
          <a:p>
            <a:r>
              <a:rPr lang="en-US" sz="2800" dirty="0">
                <a:solidFill>
                  <a:schemeClr val="bg1"/>
                </a:solidFill>
              </a:rPr>
              <a:t>Figure 4</a:t>
            </a:r>
          </a:p>
        </p:txBody>
      </p:sp>
      <p:sp>
        <p:nvSpPr>
          <p:cNvPr id="123" name="Rectangle 122"/>
          <p:cNvSpPr/>
          <p:nvPr/>
        </p:nvSpPr>
        <p:spPr bwMode="auto">
          <a:xfrm>
            <a:off x="29270436" y="13611436"/>
            <a:ext cx="17080992" cy="8172908"/>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126" name="Rectangle 125"/>
          <p:cNvSpPr/>
          <p:nvPr/>
        </p:nvSpPr>
        <p:spPr bwMode="auto">
          <a:xfrm>
            <a:off x="17426634" y="4070376"/>
            <a:ext cx="13860025" cy="9181020"/>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127" name="Rectangle 126"/>
          <p:cNvSpPr/>
          <p:nvPr/>
        </p:nvSpPr>
        <p:spPr bwMode="auto">
          <a:xfrm>
            <a:off x="17434542" y="4072244"/>
            <a:ext cx="1565730" cy="638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29" name="TextBox 128"/>
          <p:cNvSpPr txBox="1"/>
          <p:nvPr/>
        </p:nvSpPr>
        <p:spPr>
          <a:xfrm>
            <a:off x="17571109" y="4139522"/>
            <a:ext cx="1418492" cy="523220"/>
          </a:xfrm>
          <a:prstGeom prst="rect">
            <a:avLst/>
          </a:prstGeom>
          <a:noFill/>
        </p:spPr>
        <p:txBody>
          <a:bodyPr wrap="none" rtlCol="0">
            <a:spAutoFit/>
          </a:bodyPr>
          <a:lstStyle/>
          <a:p>
            <a:r>
              <a:rPr lang="en-US" sz="2800" dirty="0">
                <a:solidFill>
                  <a:schemeClr val="bg1"/>
                </a:solidFill>
              </a:rPr>
              <a:t>Figure 1</a:t>
            </a:r>
          </a:p>
        </p:txBody>
      </p:sp>
      <p:sp>
        <p:nvSpPr>
          <p:cNvPr id="154" name="Rectangle 153"/>
          <p:cNvSpPr/>
          <p:nvPr/>
        </p:nvSpPr>
        <p:spPr bwMode="auto">
          <a:xfrm>
            <a:off x="29306440" y="22360408"/>
            <a:ext cx="1565730" cy="638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155" name="TextBox 154"/>
          <p:cNvSpPr txBox="1"/>
          <p:nvPr/>
        </p:nvSpPr>
        <p:spPr>
          <a:xfrm>
            <a:off x="30926620" y="22468420"/>
            <a:ext cx="15265695" cy="584775"/>
          </a:xfrm>
          <a:prstGeom prst="rect">
            <a:avLst/>
          </a:prstGeom>
          <a:noFill/>
        </p:spPr>
        <p:txBody>
          <a:bodyPr wrap="square" rtlCol="0">
            <a:spAutoFit/>
          </a:bodyPr>
          <a:lstStyle/>
          <a:p>
            <a:r>
              <a:rPr lang="en-US" sz="3200" b="1" dirty="0"/>
              <a:t>Average optimal fitness occurs at triploid state</a:t>
            </a:r>
          </a:p>
        </p:txBody>
      </p:sp>
      <p:sp>
        <p:nvSpPr>
          <p:cNvPr id="156" name="TextBox 155"/>
          <p:cNvSpPr txBox="1"/>
          <p:nvPr/>
        </p:nvSpPr>
        <p:spPr>
          <a:xfrm>
            <a:off x="29378448" y="22360408"/>
            <a:ext cx="1351717" cy="523220"/>
          </a:xfrm>
          <a:prstGeom prst="rect">
            <a:avLst/>
          </a:prstGeom>
          <a:noFill/>
        </p:spPr>
        <p:txBody>
          <a:bodyPr wrap="none" rtlCol="0">
            <a:spAutoFit/>
          </a:bodyPr>
          <a:lstStyle/>
          <a:p>
            <a:r>
              <a:rPr lang="en-US" sz="2800" dirty="0">
                <a:solidFill>
                  <a:schemeClr val="bg1"/>
                </a:solidFill>
              </a:rPr>
              <a:t>Figure 5</a:t>
            </a:r>
          </a:p>
        </p:txBody>
      </p:sp>
      <p:sp>
        <p:nvSpPr>
          <p:cNvPr id="157" name="Rectangle 156"/>
          <p:cNvSpPr/>
          <p:nvPr/>
        </p:nvSpPr>
        <p:spPr bwMode="auto">
          <a:xfrm>
            <a:off x="29306440" y="22324404"/>
            <a:ext cx="17029892" cy="7344816"/>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66" name="TextBox 65"/>
          <p:cNvSpPr txBox="1"/>
          <p:nvPr/>
        </p:nvSpPr>
        <p:spPr>
          <a:xfrm>
            <a:off x="17533132" y="11019148"/>
            <a:ext cx="13537504" cy="2677656"/>
          </a:xfrm>
          <a:prstGeom prst="rect">
            <a:avLst/>
          </a:prstGeom>
          <a:noFill/>
        </p:spPr>
        <p:txBody>
          <a:bodyPr wrap="square" rtlCol="0">
            <a:spAutoFit/>
          </a:bodyPr>
          <a:lstStyle/>
          <a:p>
            <a:r>
              <a:rPr lang="en-US" sz="2800" dirty="0"/>
              <a:t>Brain tumors in humans have different manifestations that can result in different prognoses.  In particular, </a:t>
            </a:r>
            <a:r>
              <a:rPr lang="en-US" sz="2800" dirty="0" err="1"/>
              <a:t>astrocytomas</a:t>
            </a:r>
            <a:r>
              <a:rPr lang="en-US" sz="2800" dirty="0"/>
              <a:t> can be grouped from I-IV, with stage 4 (</a:t>
            </a:r>
            <a:r>
              <a:rPr lang="en-US" sz="2800" dirty="0" err="1"/>
              <a:t>glioblastoma</a:t>
            </a:r>
            <a:r>
              <a:rPr lang="en-US" sz="2800" dirty="0"/>
              <a:t> </a:t>
            </a:r>
            <a:r>
              <a:rPr lang="en-US" sz="2800" dirty="0" err="1"/>
              <a:t>multiforme</a:t>
            </a:r>
            <a:r>
              <a:rPr lang="en-US" sz="2800" dirty="0"/>
              <a:t>) having both the latest onset and the worst prognosis on average.  For all cases, chromosome counts appear to be roughly bimodal, with greater heterogeneity associated with later-stage disease.</a:t>
            </a:r>
          </a:p>
          <a:p>
            <a:endParaRPr lang="en-US" sz="2800" dirty="0"/>
          </a:p>
        </p:txBody>
      </p:sp>
      <p:sp>
        <p:nvSpPr>
          <p:cNvPr id="67" name="Rectangle 66"/>
          <p:cNvSpPr/>
          <p:nvPr/>
        </p:nvSpPr>
        <p:spPr bwMode="auto">
          <a:xfrm>
            <a:off x="17425120" y="13647440"/>
            <a:ext cx="11250168" cy="16021780"/>
          </a:xfrm>
          <a:prstGeom prst="rect">
            <a:avLst/>
          </a:prstGeom>
          <a:noFill/>
          <a:ln w="9525" cap="flat" cmpd="sng" algn="ctr">
            <a:solidFill>
              <a:srgbClr val="0070C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68" name="Rectangle 67"/>
          <p:cNvSpPr/>
          <p:nvPr/>
        </p:nvSpPr>
        <p:spPr bwMode="auto">
          <a:xfrm>
            <a:off x="17433027" y="13683444"/>
            <a:ext cx="1565730" cy="638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70C0"/>
              </a:solidFill>
              <a:effectLst/>
              <a:latin typeface="Times" charset="0"/>
            </a:endParaRPr>
          </a:p>
        </p:txBody>
      </p:sp>
      <p:sp>
        <p:nvSpPr>
          <p:cNvPr id="69" name="TextBox 68"/>
          <p:cNvSpPr txBox="1"/>
          <p:nvPr/>
        </p:nvSpPr>
        <p:spPr>
          <a:xfrm>
            <a:off x="19043785" y="13686306"/>
            <a:ext cx="9362555" cy="1077218"/>
          </a:xfrm>
          <a:prstGeom prst="rect">
            <a:avLst/>
          </a:prstGeom>
          <a:noFill/>
        </p:spPr>
        <p:txBody>
          <a:bodyPr wrap="square" rtlCol="0">
            <a:spAutoFit/>
          </a:bodyPr>
          <a:lstStyle/>
          <a:p>
            <a:r>
              <a:rPr lang="en-US" sz="3200" b="1" dirty="0"/>
              <a:t>Spectral </a:t>
            </a:r>
            <a:r>
              <a:rPr lang="en-US" sz="3200" b="1" dirty="0" err="1"/>
              <a:t>karyotyping</a:t>
            </a:r>
            <a:r>
              <a:rPr lang="en-US" sz="3200" b="1" dirty="0"/>
              <a:t> can give CIN-based chromosome distributions </a:t>
            </a:r>
          </a:p>
        </p:txBody>
      </p:sp>
      <p:sp>
        <p:nvSpPr>
          <p:cNvPr id="70" name="TextBox 69"/>
          <p:cNvSpPr txBox="1"/>
          <p:nvPr/>
        </p:nvSpPr>
        <p:spPr>
          <a:xfrm>
            <a:off x="17569594" y="13683444"/>
            <a:ext cx="1351717" cy="523220"/>
          </a:xfrm>
          <a:prstGeom prst="rect">
            <a:avLst/>
          </a:prstGeom>
          <a:noFill/>
        </p:spPr>
        <p:txBody>
          <a:bodyPr wrap="none" rtlCol="0">
            <a:spAutoFit/>
          </a:bodyPr>
          <a:lstStyle/>
          <a:p>
            <a:r>
              <a:rPr lang="en-US" sz="2800" dirty="0">
                <a:solidFill>
                  <a:schemeClr val="bg1"/>
                </a:solidFill>
              </a:rPr>
              <a:t>Figure 3</a:t>
            </a:r>
          </a:p>
        </p:txBody>
      </p:sp>
      <p:sp>
        <p:nvSpPr>
          <p:cNvPr id="76" name="TextBox 75"/>
          <p:cNvSpPr txBox="1"/>
          <p:nvPr/>
        </p:nvSpPr>
        <p:spPr>
          <a:xfrm>
            <a:off x="31862724" y="11609728"/>
            <a:ext cx="14113568" cy="1815882"/>
          </a:xfrm>
          <a:prstGeom prst="rect">
            <a:avLst/>
          </a:prstGeom>
          <a:noFill/>
        </p:spPr>
        <p:txBody>
          <a:bodyPr wrap="square" rtlCol="0">
            <a:spAutoFit/>
          </a:bodyPr>
          <a:lstStyle/>
          <a:p>
            <a:r>
              <a:rPr lang="en-US" sz="2800" dirty="0"/>
              <a:t>A)  A simple partial differential equation can be used to model how chromosomal count changes in cells with differing CIN levels.  B)  If steady-state conditions hold, the underlying fitness landscape can be derived from experimentally-determined </a:t>
            </a:r>
            <a:r>
              <a:rPr lang="en-US" sz="2800" dirty="0" err="1"/>
              <a:t>aneuploidy</a:t>
            </a:r>
            <a:r>
              <a:rPr lang="en-US" sz="2800" dirty="0"/>
              <a:t> levels.  </a:t>
            </a:r>
          </a:p>
          <a:p>
            <a:endParaRPr lang="en-US" sz="2800" dirty="0"/>
          </a:p>
        </p:txBody>
      </p:sp>
      <p:sp>
        <p:nvSpPr>
          <p:cNvPr id="79" name="TextBox 78"/>
          <p:cNvSpPr txBox="1"/>
          <p:nvPr/>
        </p:nvSpPr>
        <p:spPr>
          <a:xfrm>
            <a:off x="29450456" y="18147940"/>
            <a:ext cx="16777864" cy="1384995"/>
          </a:xfrm>
          <a:prstGeom prst="rect">
            <a:avLst/>
          </a:prstGeom>
          <a:noFill/>
        </p:spPr>
        <p:txBody>
          <a:bodyPr wrap="square" rtlCol="0">
            <a:spAutoFit/>
          </a:bodyPr>
          <a:lstStyle/>
          <a:p>
            <a:r>
              <a:rPr lang="en-US" sz="2800" dirty="0"/>
              <a:t>A) Example of fitting either a normal (Gaussian) distribution or a Gaussian extreme value (GEV) distribution to chromosome histograms.  B)  CIN lines are better fit by normal distributions on average, p = 0.0437.</a:t>
            </a:r>
          </a:p>
          <a:p>
            <a:endParaRPr lang="en-US" sz="2800" dirty="0"/>
          </a:p>
        </p:txBody>
      </p:sp>
      <p:sp>
        <p:nvSpPr>
          <p:cNvPr id="87" name="TextBox 86"/>
          <p:cNvSpPr txBox="1"/>
          <p:nvPr/>
        </p:nvSpPr>
        <p:spPr>
          <a:xfrm>
            <a:off x="17533132" y="28032197"/>
            <a:ext cx="10837204" cy="1384995"/>
          </a:xfrm>
          <a:prstGeom prst="rect">
            <a:avLst/>
          </a:prstGeom>
          <a:noFill/>
        </p:spPr>
        <p:txBody>
          <a:bodyPr wrap="square" rtlCol="0">
            <a:spAutoFit/>
          </a:bodyPr>
          <a:lstStyle/>
          <a:p>
            <a:r>
              <a:rPr lang="en-US" sz="2800" dirty="0"/>
              <a:t>Chromosome distributions at given </a:t>
            </a:r>
            <a:r>
              <a:rPr lang="en-US" sz="2800" dirty="0" err="1"/>
              <a:t>timepoints</a:t>
            </a:r>
            <a:r>
              <a:rPr lang="en-US" sz="2800" dirty="0"/>
              <a:t> for:  A)  HCT116  (1</a:t>
            </a:r>
            <a:r>
              <a:rPr lang="en-US" sz="2800" baseline="30000" dirty="0"/>
              <a:t>st</a:t>
            </a:r>
            <a:r>
              <a:rPr lang="en-US" sz="2800" dirty="0"/>
              <a:t> trial), non-CIN;  B)  RPE1, non-CIN;  C)  U20S (1</a:t>
            </a:r>
            <a:r>
              <a:rPr lang="en-US" sz="2800" baseline="30000" dirty="0"/>
              <a:t>st</a:t>
            </a:r>
            <a:r>
              <a:rPr lang="en-US" sz="2800" dirty="0"/>
              <a:t> trial), CIN;  D) U251 (1</a:t>
            </a:r>
            <a:r>
              <a:rPr lang="en-US" sz="2800" baseline="30000" dirty="0"/>
              <a:t>st</a:t>
            </a:r>
            <a:r>
              <a:rPr lang="en-US" sz="2800" dirty="0"/>
              <a:t> trial), CIN.  Different colors represent different </a:t>
            </a:r>
            <a:r>
              <a:rPr lang="en-US" sz="2800" dirty="0" err="1"/>
              <a:t>timepoints</a:t>
            </a:r>
            <a:r>
              <a:rPr lang="en-US" sz="2800" dirty="0"/>
              <a:t> in days.</a:t>
            </a:r>
          </a:p>
        </p:txBody>
      </p:sp>
      <p:sp>
        <p:nvSpPr>
          <p:cNvPr id="89" name="TextBox 88"/>
          <p:cNvSpPr txBox="1"/>
          <p:nvPr/>
        </p:nvSpPr>
        <p:spPr>
          <a:xfrm>
            <a:off x="29306440" y="28121048"/>
            <a:ext cx="16921880" cy="1384995"/>
          </a:xfrm>
          <a:prstGeom prst="rect">
            <a:avLst/>
          </a:prstGeom>
          <a:noFill/>
        </p:spPr>
        <p:txBody>
          <a:bodyPr wrap="square" rtlCol="0">
            <a:spAutoFit/>
          </a:bodyPr>
          <a:lstStyle/>
          <a:p>
            <a:r>
              <a:rPr lang="en-US" sz="2800" dirty="0"/>
              <a:t>The difference in CIN versus non-CIN lines is emphasized by the fitness landscapes (a mapping from chromosome count to cellular survival and reproductive advantage) predicted by the model using steady-state distributions.  Non-CIN lines are predicted to have  a steep drop-off in fitness as chromosome count increases above </a:t>
            </a:r>
            <a:r>
              <a:rPr lang="en-US" sz="2800" dirty="0" err="1"/>
              <a:t>euploidy</a:t>
            </a:r>
            <a:r>
              <a:rPr lang="en-US" sz="2800" dirty="0"/>
              <a:t>.</a:t>
            </a:r>
          </a:p>
        </p:txBody>
      </p:sp>
      <p:sp>
        <p:nvSpPr>
          <p:cNvPr id="77" name="TextBox 76"/>
          <p:cNvSpPr txBox="1"/>
          <p:nvPr/>
        </p:nvSpPr>
        <p:spPr>
          <a:xfrm flipH="1">
            <a:off x="31826720" y="5402524"/>
            <a:ext cx="782374" cy="769441"/>
          </a:xfrm>
          <a:prstGeom prst="rect">
            <a:avLst/>
          </a:prstGeom>
          <a:noFill/>
        </p:spPr>
        <p:txBody>
          <a:bodyPr wrap="square" rtlCol="0">
            <a:spAutoFit/>
          </a:bodyPr>
          <a:lstStyle/>
          <a:p>
            <a:r>
              <a:rPr lang="en-US" sz="4400" dirty="0"/>
              <a:t>A.</a:t>
            </a:r>
          </a:p>
        </p:txBody>
      </p:sp>
      <p:sp>
        <p:nvSpPr>
          <p:cNvPr id="78" name="TextBox 77"/>
          <p:cNvSpPr txBox="1"/>
          <p:nvPr/>
        </p:nvSpPr>
        <p:spPr>
          <a:xfrm flipH="1">
            <a:off x="40899728" y="5438528"/>
            <a:ext cx="782374" cy="769441"/>
          </a:xfrm>
          <a:prstGeom prst="rect">
            <a:avLst/>
          </a:prstGeom>
          <a:noFill/>
        </p:spPr>
        <p:txBody>
          <a:bodyPr wrap="square" rtlCol="0">
            <a:spAutoFit/>
          </a:bodyPr>
          <a:lstStyle/>
          <a:p>
            <a:r>
              <a:rPr lang="en-US" sz="4400" dirty="0"/>
              <a:t>B.</a:t>
            </a:r>
          </a:p>
        </p:txBody>
      </p:sp>
      <p:sp>
        <p:nvSpPr>
          <p:cNvPr id="80" name="TextBox 79"/>
          <p:cNvSpPr txBox="1"/>
          <p:nvPr/>
        </p:nvSpPr>
        <p:spPr>
          <a:xfrm>
            <a:off x="30854612" y="13611436"/>
            <a:ext cx="15409712" cy="1077218"/>
          </a:xfrm>
          <a:prstGeom prst="rect">
            <a:avLst/>
          </a:prstGeom>
          <a:noFill/>
        </p:spPr>
        <p:txBody>
          <a:bodyPr wrap="square" rtlCol="0">
            <a:spAutoFit/>
          </a:bodyPr>
          <a:lstStyle/>
          <a:p>
            <a:r>
              <a:rPr lang="en-US" sz="3200" b="1" dirty="0"/>
              <a:t>Fitness landscapes reveal that passing through an intermediate </a:t>
            </a:r>
            <a:r>
              <a:rPr lang="en-US" sz="3200" b="1" dirty="0" err="1"/>
              <a:t>tetraploid</a:t>
            </a:r>
            <a:r>
              <a:rPr lang="en-US" sz="3200" b="1" dirty="0"/>
              <a:t> state allows CIN to arise without incurring severe fitness cost</a:t>
            </a:r>
          </a:p>
        </p:txBody>
      </p:sp>
      <p:graphicFrame>
        <p:nvGraphicFramePr>
          <p:cNvPr id="85" name="Object 84"/>
          <p:cNvGraphicFramePr>
            <a:graphicFrameLocks noChangeAspect="1"/>
          </p:cNvGraphicFramePr>
          <p:nvPr/>
        </p:nvGraphicFramePr>
        <p:xfrm>
          <a:off x="23488650" y="14979650"/>
          <a:ext cx="114300" cy="215900"/>
        </p:xfrm>
        <a:graphic>
          <a:graphicData uri="http://schemas.openxmlformats.org/presentationml/2006/ole">
            <mc:AlternateContent xmlns:mc="http://schemas.openxmlformats.org/markup-compatibility/2006">
              <mc:Choice xmlns:v="urn:schemas-microsoft-com:vml" Requires="v">
                <p:oleObj spid="_x0000_s1026" name="Equation" r:id="rId5" imgW="114120" imgH="215640" progId="Equation.3">
                  <p:embed/>
                </p:oleObj>
              </mc:Choice>
              <mc:Fallback>
                <p:oleObj name="Equation" r:id="rId5" imgW="114120" imgH="21564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88650" y="149796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 name="Rectangle 173"/>
          <p:cNvSpPr/>
          <p:nvPr/>
        </p:nvSpPr>
        <p:spPr>
          <a:xfrm>
            <a:off x="31970736" y="9074932"/>
            <a:ext cx="8676964" cy="18362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3" name="Picture 172" descr="pdeExplanationLines.jpg"/>
          <p:cNvPicPr>
            <a:picLocks noChangeAspect="1"/>
          </p:cNvPicPr>
          <p:nvPr/>
        </p:nvPicPr>
        <p:blipFill>
          <a:blip r:embed="rId7" cstate="print"/>
          <a:stretch>
            <a:fillRect/>
          </a:stretch>
        </p:blipFill>
        <p:spPr>
          <a:xfrm>
            <a:off x="34094972" y="9002924"/>
            <a:ext cx="9865096" cy="2032721"/>
          </a:xfrm>
          <a:prstGeom prst="rect">
            <a:avLst/>
          </a:prstGeom>
        </p:spPr>
      </p:pic>
      <p:sp>
        <p:nvSpPr>
          <p:cNvPr id="175" name="TextBox 174"/>
          <p:cNvSpPr txBox="1"/>
          <p:nvPr/>
        </p:nvSpPr>
        <p:spPr>
          <a:xfrm flipH="1">
            <a:off x="29954512" y="14691556"/>
            <a:ext cx="782374" cy="769441"/>
          </a:xfrm>
          <a:prstGeom prst="rect">
            <a:avLst/>
          </a:prstGeom>
          <a:noFill/>
        </p:spPr>
        <p:txBody>
          <a:bodyPr wrap="square" rtlCol="0">
            <a:spAutoFit/>
          </a:bodyPr>
          <a:lstStyle/>
          <a:p>
            <a:r>
              <a:rPr lang="en-US" sz="4400" dirty="0"/>
              <a:t>A.</a:t>
            </a:r>
          </a:p>
        </p:txBody>
      </p:sp>
      <p:sp>
        <p:nvSpPr>
          <p:cNvPr id="176" name="TextBox 175"/>
          <p:cNvSpPr txBox="1"/>
          <p:nvPr/>
        </p:nvSpPr>
        <p:spPr>
          <a:xfrm flipH="1">
            <a:off x="35544846" y="14714203"/>
            <a:ext cx="782374" cy="769441"/>
          </a:xfrm>
          <a:prstGeom prst="rect">
            <a:avLst/>
          </a:prstGeom>
          <a:noFill/>
        </p:spPr>
        <p:txBody>
          <a:bodyPr wrap="square" rtlCol="0">
            <a:spAutoFit/>
          </a:bodyPr>
          <a:lstStyle/>
          <a:p>
            <a:r>
              <a:rPr lang="en-US" sz="4400" dirty="0"/>
              <a:t>B.</a:t>
            </a:r>
          </a:p>
        </p:txBody>
      </p:sp>
      <p:sp>
        <p:nvSpPr>
          <p:cNvPr id="177" name="TextBox 176"/>
          <p:cNvSpPr txBox="1"/>
          <p:nvPr/>
        </p:nvSpPr>
        <p:spPr>
          <a:xfrm flipH="1">
            <a:off x="18181204" y="15231616"/>
            <a:ext cx="782374" cy="769441"/>
          </a:xfrm>
          <a:prstGeom prst="rect">
            <a:avLst/>
          </a:prstGeom>
          <a:noFill/>
        </p:spPr>
        <p:txBody>
          <a:bodyPr wrap="square" rtlCol="0">
            <a:spAutoFit/>
          </a:bodyPr>
          <a:lstStyle/>
          <a:p>
            <a:r>
              <a:rPr lang="en-US" sz="4400" dirty="0"/>
              <a:t>A.</a:t>
            </a:r>
          </a:p>
        </p:txBody>
      </p:sp>
      <p:sp>
        <p:nvSpPr>
          <p:cNvPr id="178" name="TextBox 177"/>
          <p:cNvSpPr txBox="1"/>
          <p:nvPr/>
        </p:nvSpPr>
        <p:spPr>
          <a:xfrm flipH="1">
            <a:off x="23087462" y="15218259"/>
            <a:ext cx="782374" cy="769441"/>
          </a:xfrm>
          <a:prstGeom prst="rect">
            <a:avLst/>
          </a:prstGeom>
          <a:noFill/>
        </p:spPr>
        <p:txBody>
          <a:bodyPr wrap="square" rtlCol="0">
            <a:spAutoFit/>
          </a:bodyPr>
          <a:lstStyle/>
          <a:p>
            <a:r>
              <a:rPr lang="en-US" sz="4400" dirty="0"/>
              <a:t>B.</a:t>
            </a:r>
          </a:p>
        </p:txBody>
      </p:sp>
      <p:sp>
        <p:nvSpPr>
          <p:cNvPr id="179" name="TextBox 178"/>
          <p:cNvSpPr txBox="1"/>
          <p:nvPr/>
        </p:nvSpPr>
        <p:spPr>
          <a:xfrm flipH="1">
            <a:off x="18145200" y="21712336"/>
            <a:ext cx="782374" cy="769441"/>
          </a:xfrm>
          <a:prstGeom prst="rect">
            <a:avLst/>
          </a:prstGeom>
          <a:noFill/>
        </p:spPr>
        <p:txBody>
          <a:bodyPr wrap="square" rtlCol="0">
            <a:spAutoFit/>
          </a:bodyPr>
          <a:lstStyle/>
          <a:p>
            <a:r>
              <a:rPr lang="en-US" sz="4400" dirty="0"/>
              <a:t>C.</a:t>
            </a:r>
          </a:p>
        </p:txBody>
      </p:sp>
      <p:sp>
        <p:nvSpPr>
          <p:cNvPr id="180" name="TextBox 179"/>
          <p:cNvSpPr txBox="1"/>
          <p:nvPr/>
        </p:nvSpPr>
        <p:spPr>
          <a:xfrm flipH="1">
            <a:off x="23293772" y="21712336"/>
            <a:ext cx="782374" cy="769441"/>
          </a:xfrm>
          <a:prstGeom prst="rect">
            <a:avLst/>
          </a:prstGeom>
          <a:noFill/>
        </p:spPr>
        <p:txBody>
          <a:bodyPr wrap="square" rtlCol="0">
            <a:spAutoFit/>
          </a:bodyPr>
          <a:lstStyle/>
          <a:p>
            <a:r>
              <a:rPr lang="en-US" sz="4400" dirty="0"/>
              <a:t>D.</a:t>
            </a:r>
          </a:p>
        </p:txBody>
      </p:sp>
      <p:sp>
        <p:nvSpPr>
          <p:cNvPr id="81" name="TextBox 80"/>
          <p:cNvSpPr txBox="1"/>
          <p:nvPr/>
        </p:nvSpPr>
        <p:spPr>
          <a:xfrm>
            <a:off x="19081304" y="4142384"/>
            <a:ext cx="12133348" cy="1077218"/>
          </a:xfrm>
          <a:prstGeom prst="rect">
            <a:avLst/>
          </a:prstGeom>
          <a:noFill/>
        </p:spPr>
        <p:txBody>
          <a:bodyPr wrap="square" rtlCol="0">
            <a:spAutoFit/>
          </a:bodyPr>
          <a:lstStyle/>
          <a:p>
            <a:r>
              <a:rPr lang="en-US" sz="3200" b="1" dirty="0" err="1"/>
              <a:t>Glioblastoma</a:t>
            </a:r>
            <a:r>
              <a:rPr lang="en-US" sz="3200" b="1" dirty="0"/>
              <a:t> data illustrates heterogeneity in chromosome copy number</a:t>
            </a:r>
          </a:p>
        </p:txBody>
      </p:sp>
      <p:pic>
        <p:nvPicPr>
          <p:cNvPr id="1028" name="Picture 4" descr="http://www.isenet.it/images/stories/virtuemart/product/glins2.png"/>
          <p:cNvPicPr>
            <a:picLocks noChangeAspect="1" noChangeArrowheads="1"/>
          </p:cNvPicPr>
          <p:nvPr/>
        </p:nvPicPr>
        <p:blipFill>
          <a:blip r:embed="rId8" cstate="print"/>
          <a:srcRect/>
          <a:stretch>
            <a:fillRect/>
          </a:stretch>
        </p:blipFill>
        <p:spPr bwMode="auto">
          <a:xfrm>
            <a:off x="26390116" y="6734672"/>
            <a:ext cx="3181445" cy="2563467"/>
          </a:xfrm>
          <a:prstGeom prst="rect">
            <a:avLst/>
          </a:prstGeom>
          <a:noFill/>
        </p:spPr>
      </p:pic>
      <p:pic>
        <p:nvPicPr>
          <p:cNvPr id="96" name="Picture 95" descr="mitelmanAstrocytoma.jpg"/>
          <p:cNvPicPr>
            <a:picLocks noChangeAspect="1"/>
          </p:cNvPicPr>
          <p:nvPr/>
        </p:nvPicPr>
        <p:blipFill>
          <a:blip r:embed="rId9" cstate="print"/>
          <a:stretch>
            <a:fillRect/>
          </a:stretch>
        </p:blipFill>
        <p:spPr>
          <a:xfrm>
            <a:off x="18109196" y="5258508"/>
            <a:ext cx="12133348" cy="55889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798da29-2e2f-4b3b-adeb-bd4f16894ab3" xsi:nil="true"/>
    <lcf76f155ced4ddcb4097134ff3c332f xmlns="5f0ee217-3a56-4e83-adce-87c2430fca8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1EB05B502C5FF45818E54DC1CEC71D0" ma:contentTypeVersion="17" ma:contentTypeDescription="Create a new document." ma:contentTypeScope="" ma:versionID="f358db7d2d23f8e8ed12ca3fb9c7840d">
  <xsd:schema xmlns:xsd="http://www.w3.org/2001/XMLSchema" xmlns:xs="http://www.w3.org/2001/XMLSchema" xmlns:p="http://schemas.microsoft.com/office/2006/metadata/properties" xmlns:ns2="5f0ee217-3a56-4e83-adce-87c2430fca86" xmlns:ns3="8798da29-2e2f-4b3b-adeb-bd4f16894ab3" targetNamespace="http://schemas.microsoft.com/office/2006/metadata/properties" ma:root="true" ma:fieldsID="90e8c7fca5449b0609c51ff2e4d55e05" ns2:_="" ns3:_="">
    <xsd:import namespace="5f0ee217-3a56-4e83-adce-87c2430fca86"/>
    <xsd:import namespace="8798da29-2e2f-4b3b-adeb-bd4f16894ab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0ee217-3a56-4e83-adce-87c2430fca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540d9186-e5cf-4b18-a3f5-eecaf30ff8f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8da29-2e2f-4b3b-adeb-bd4f16894ab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da451f7-d4c5-443f-99b2-4ed4d0260f90}" ma:internalName="TaxCatchAll" ma:showField="CatchAllData" ma:web="8798da29-2e2f-4b3b-adeb-bd4f16894a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C0467A-B500-4874-A71B-8B828D36CC63}">
  <ds:schemaRefs>
    <ds:schemaRef ds:uri="http://schemas.microsoft.com/office/infopath/2007/PartnerControls"/>
    <ds:schemaRef ds:uri="http://schemas.microsoft.com/office/2006/metadata/properties"/>
    <ds:schemaRef ds:uri="http://purl.org/dc/dcmitype/"/>
    <ds:schemaRef ds:uri="http://www.w3.org/XML/1998/namespace"/>
    <ds:schemaRef ds:uri="5f0ee217-3a56-4e83-adce-87c2430fca86"/>
    <ds:schemaRef ds:uri="http://schemas.microsoft.com/office/2006/documentManagement/types"/>
    <ds:schemaRef ds:uri="http://purl.org/dc/elements/1.1/"/>
    <ds:schemaRef ds:uri="http://schemas.openxmlformats.org/package/2006/metadata/core-properties"/>
    <ds:schemaRef ds:uri="8798da29-2e2f-4b3b-adeb-bd4f16894ab3"/>
    <ds:schemaRef ds:uri="http://purl.org/dc/terms/"/>
  </ds:schemaRefs>
</ds:datastoreItem>
</file>

<file path=customXml/itemProps2.xml><?xml version="1.0" encoding="utf-8"?>
<ds:datastoreItem xmlns:ds="http://schemas.openxmlformats.org/officeDocument/2006/customXml" ds:itemID="{D7C9AD24-843F-4DDC-A5E2-A635E3F3FB0B}">
  <ds:schemaRefs>
    <ds:schemaRef ds:uri="http://schemas.microsoft.com/sharepoint/v3/contenttype/forms"/>
  </ds:schemaRefs>
</ds:datastoreItem>
</file>

<file path=customXml/itemProps3.xml><?xml version="1.0" encoding="utf-8"?>
<ds:datastoreItem xmlns:ds="http://schemas.openxmlformats.org/officeDocument/2006/customXml" ds:itemID="{89835D04-9580-4100-A81D-986EFFC0DF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0ee217-3a56-4e83-adce-87c2430fca86"/>
    <ds:schemaRef ds:uri="8798da29-2e2f-4b3b-adeb-bd4f16894a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56983</TotalTime>
  <Words>741</Words>
  <Application>Microsoft Macintosh PowerPoint</Application>
  <PresentationFormat>Custom</PresentationFormat>
  <Paragraphs>42</Paragraphs>
  <Slides>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Arial</vt:lpstr>
      <vt:lpstr>Calibri</vt:lpstr>
      <vt:lpstr>Times</vt:lpstr>
      <vt:lpstr>Times New Roman</vt:lpstr>
      <vt:lpstr>Wingdings</vt:lpstr>
      <vt:lpstr>Office Theme</vt:lpstr>
      <vt:lpstr>Equation</vt:lpstr>
      <vt:lpstr>PowerPoint Presentation</vt:lpstr>
    </vt:vector>
  </TitlesOfParts>
  <Company>Millennium Pharmaceuticals,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setup</dc:creator>
  <cp:lastModifiedBy>Arijit Chakravarty</cp:lastModifiedBy>
  <cp:revision>37</cp:revision>
  <dcterms:created xsi:type="dcterms:W3CDTF">2013-09-17T17:02:35Z</dcterms:created>
  <dcterms:modified xsi:type="dcterms:W3CDTF">2026-03-02T21:14:27Z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0x010100B1EB05B502C5FF45818E54DC1CEC71D0</vt:lpwstr>
  </property>
  <property fmtid="{D5CDD505-2E9C-101B-9397-08002B2CF9AE}" pid="3" name="MediaServiceImageTags">
    <vt:lpwstr/>
  </property>
</Properties>
</file>